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596" autoAdjust="0"/>
  </p:normalViewPr>
  <p:slideViewPr>
    <p:cSldViewPr snapToGrid="0" snapToObjects="1">
      <p:cViewPr>
        <p:scale>
          <a:sx n="100" d="100"/>
          <a:sy n="100" d="100"/>
        </p:scale>
        <p:origin x="95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rner Hugo" userId="ffaabde14db53df2" providerId="LiveId" clId="{91EAB9A1-B52C-423F-89E5-D838F1BB3FFD}"/>
    <pc:docChg chg="undo custSel modSld">
      <pc:chgData name="Werner Hugo" userId="ffaabde14db53df2" providerId="LiveId" clId="{91EAB9A1-B52C-423F-89E5-D838F1BB3FFD}" dt="2026-04-30T07:36:58.968" v="11" actId="478"/>
      <pc:docMkLst>
        <pc:docMk/>
      </pc:docMkLst>
      <pc:sldChg chg="modSp mod">
        <pc:chgData name="Werner Hugo" userId="ffaabde14db53df2" providerId="LiveId" clId="{91EAB9A1-B52C-423F-89E5-D838F1BB3FFD}" dt="2026-04-30T07:23:00.711" v="0" actId="20577"/>
        <pc:sldMkLst>
          <pc:docMk/>
          <pc:sldMk cId="0" sldId="258"/>
        </pc:sldMkLst>
        <pc:spChg chg="mod">
          <ac:chgData name="Werner Hugo" userId="ffaabde14db53df2" providerId="LiveId" clId="{91EAB9A1-B52C-423F-89E5-D838F1BB3FFD}" dt="2026-04-30T07:23:00.711" v="0" actId="20577"/>
          <ac:spMkLst>
            <pc:docMk/>
            <pc:sldMk cId="0" sldId="258"/>
            <ac:spMk id="22" creationId="{00000000-0000-0000-0000-000000000000}"/>
          </ac:spMkLst>
        </pc:spChg>
      </pc:sldChg>
      <pc:sldChg chg="delSp mod">
        <pc:chgData name="Werner Hugo" userId="ffaabde14db53df2" providerId="LiveId" clId="{91EAB9A1-B52C-423F-89E5-D838F1BB3FFD}" dt="2026-04-30T07:34:42.182" v="5" actId="478"/>
        <pc:sldMkLst>
          <pc:docMk/>
          <pc:sldMk cId="0" sldId="259"/>
        </pc:sldMkLst>
        <pc:spChg chg="del">
          <ac:chgData name="Werner Hugo" userId="ffaabde14db53df2" providerId="LiveId" clId="{91EAB9A1-B52C-423F-89E5-D838F1BB3FFD}" dt="2026-04-30T07:34:37.871" v="2" actId="478"/>
          <ac:spMkLst>
            <pc:docMk/>
            <pc:sldMk cId="0" sldId="259"/>
            <ac:spMk id="108" creationId="{00000000-0000-0000-0000-000000000000}"/>
          </ac:spMkLst>
        </pc:spChg>
        <pc:spChg chg="del">
          <ac:chgData name="Werner Hugo" userId="ffaabde14db53df2" providerId="LiveId" clId="{91EAB9A1-B52C-423F-89E5-D838F1BB3FFD}" dt="2026-04-30T07:34:40.102" v="3" actId="478"/>
          <ac:spMkLst>
            <pc:docMk/>
            <pc:sldMk cId="0" sldId="259"/>
            <ac:spMk id="109" creationId="{00000000-0000-0000-0000-000000000000}"/>
          </ac:spMkLst>
        </pc:spChg>
        <pc:spChg chg="del">
          <ac:chgData name="Werner Hugo" userId="ffaabde14db53df2" providerId="LiveId" clId="{91EAB9A1-B52C-423F-89E5-D838F1BB3FFD}" dt="2026-04-30T07:34:41.012" v="4" actId="478"/>
          <ac:spMkLst>
            <pc:docMk/>
            <pc:sldMk cId="0" sldId="259"/>
            <ac:spMk id="111" creationId="{00000000-0000-0000-0000-000000000000}"/>
          </ac:spMkLst>
        </pc:spChg>
        <pc:spChg chg="del">
          <ac:chgData name="Werner Hugo" userId="ffaabde14db53df2" providerId="LiveId" clId="{91EAB9A1-B52C-423F-89E5-D838F1BB3FFD}" dt="2026-04-30T07:34:42.182" v="5" actId="478"/>
          <ac:spMkLst>
            <pc:docMk/>
            <pc:sldMk cId="0" sldId="259"/>
            <ac:spMk id="113" creationId="{00000000-0000-0000-0000-000000000000}"/>
          </ac:spMkLst>
        </pc:spChg>
      </pc:sldChg>
      <pc:sldChg chg="delSp modSp mod">
        <pc:chgData name="Werner Hugo" userId="ffaabde14db53df2" providerId="LiveId" clId="{91EAB9A1-B52C-423F-89E5-D838F1BB3FFD}" dt="2026-04-30T07:36:47.949" v="7" actId="478"/>
        <pc:sldMkLst>
          <pc:docMk/>
          <pc:sldMk cId="0" sldId="262"/>
        </pc:sldMkLst>
        <pc:spChg chg="del mod">
          <ac:chgData name="Werner Hugo" userId="ffaabde14db53df2" providerId="LiveId" clId="{91EAB9A1-B52C-423F-89E5-D838F1BB3FFD}" dt="2026-04-30T07:36:47.949" v="7" actId="478"/>
          <ac:spMkLst>
            <pc:docMk/>
            <pc:sldMk cId="0" sldId="262"/>
            <ac:spMk id="65" creationId="{00000000-0000-0000-0000-000000000000}"/>
          </ac:spMkLst>
        </pc:spChg>
      </pc:sldChg>
      <pc:sldChg chg="addSp delSp mod">
        <pc:chgData name="Werner Hugo" userId="ffaabde14db53df2" providerId="LiveId" clId="{91EAB9A1-B52C-423F-89E5-D838F1BB3FFD}" dt="2026-04-30T07:36:58.968" v="11" actId="478"/>
        <pc:sldMkLst>
          <pc:docMk/>
          <pc:sldMk cId="0" sldId="263"/>
        </pc:sldMkLst>
        <pc:spChg chg="add del">
          <ac:chgData name="Werner Hugo" userId="ffaabde14db53df2" providerId="LiveId" clId="{91EAB9A1-B52C-423F-89E5-D838F1BB3FFD}" dt="2026-04-30T07:36:56.399" v="10" actId="478"/>
          <ac:spMkLst>
            <pc:docMk/>
            <pc:sldMk cId="0" sldId="263"/>
            <ac:spMk id="83" creationId="{00000000-0000-0000-0000-000000000000}"/>
          </ac:spMkLst>
        </pc:spChg>
        <pc:spChg chg="del">
          <ac:chgData name="Werner Hugo" userId="ffaabde14db53df2" providerId="LiveId" clId="{91EAB9A1-B52C-423F-89E5-D838F1BB3FFD}" dt="2026-04-30T07:36:58.968" v="11" actId="478"/>
          <ac:spMkLst>
            <pc:docMk/>
            <pc:sldMk cId="0" sldId="263"/>
            <ac:spMk id="84" creationId="{00000000-0000-0000-0000-000000000000}"/>
          </ac:spMkLst>
        </pc:spChg>
      </pc:sldChg>
      <pc:sldChg chg="delSp mod">
        <pc:chgData name="Werner Hugo" userId="ffaabde14db53df2" providerId="LiveId" clId="{91EAB9A1-B52C-423F-89E5-D838F1BB3FFD}" dt="2026-04-30T07:33:58.865" v="1" actId="478"/>
        <pc:sldMkLst>
          <pc:docMk/>
          <pc:sldMk cId="0" sldId="264"/>
        </pc:sldMkLst>
        <pc:spChg chg="del">
          <ac:chgData name="Werner Hugo" userId="ffaabde14db53df2" providerId="LiveId" clId="{91EAB9A1-B52C-423F-89E5-D838F1BB3FFD}" dt="2026-04-30T07:33:58.865" v="1" actId="478"/>
          <ac:spMkLst>
            <pc:docMk/>
            <pc:sldMk cId="0" sldId="264"/>
            <ac:spMk id="2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48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The central premise of this thesis is straightforward: selecting the right language identification model for a dataset should not be a matter of trial-and-error — it should be a query. We pre-compute linguistic profiles of 18 benchmark datasets, compress them into 277-dimensional fingerprints, and when a practitioner brings a new dataset we find the nearest historical neighbours and let their benchmark performance vote on a recommendation. The engineering novelty is in how we define 'nearest': we compare distilled linguistic structure, not raw text, and that is what I will defend today.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reduces to a form Industrial Engineers will recognise immediately: surrogate modelling. We cannot afford to evaluate the objective function — running all models on every new dataset — so we build a surrogate from historical evaluations and query the surrogate instead. The key engineering contribution is the design of the feature space — the fingerprint — that makes historical similarity predictive of future performance. That design constitutes the bulk of this thesis.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two-phase architecture is the key to computational tractability. Phase 1 — profiling and MKB assembly — is expensive and runs once on HPC infrastructure. Phase 2 — query and recommendation — is a nearest-neighbour lookup in a 277-dimensional space with 18 data points. That query runs in under 100 milliseconds on a laptop. The discipline of 'fit once, transform many' is fundamental: reusing the fitted PCA from build time at query time ensures query fingerprints live in the same coordinate system as the MKB fingerprints. Training-serving skew — where the transform at serving time differs from training — is a classic ML engineering bug, and the mkb.pkl serialisation pattern explicitly prevents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diversity was not accidental. We deliberately selected corpora that vary along three independent axes: domain (formal/informal, long-form/short-form), language coverage (from monolingual English to 24-language mixtures), and register (parliamentary, social media, encyclopaedic). This variation is what gives the MKB its discriminative power. The Parquet format was chosen because HuggingFace Hub delivers datasets as sharded Parquet files — we consume them directly without format conversion. The filename convention {iso}_{shard}.parquet allows the profiler to infer language identity from the path without parsing file contents.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subtle but important point about measurement validity — a concept at the heart of Industrial Engineering's Six Sigma quality frameworks. If we filter samples by FastText confidence, we are not measuring the corpus as it is; we are measuring an idealised version that discards the noisy edge cases. But those edge cases are precisely what distinguishes a social-media corpus from a parliamentary one. The 100-sample cap per language is a computational compromise: spaCy's deep linguistic analysis is expensive, and profiling more than 100 samples yields diminishing returns on the feature means while dramatically increasing processing time. We validated this: feature mean convergence is stable at n=50 and essentially flat by n=100. The knee of the SE curve sits squarely at n=100.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2,726 features? This is not a magic number — it is the union of all features that spaCy's linguistic annotation pipeline can produce for the 24 languages in our benchmark. Some features are universal (every language has token counts), while others are language-specific — case morphology features are zero for isolating languages like Mandarin. We preserve this sparsity rather than imputing it, because the pattern of zeros is itself linguistically informative: a dataset with many zero morphological features is likely rich in isolating languages. A skeptic might ask: why not use transformer embeddings? The answer is interpretability. I cannot explain to a practitioner why their dataset is similar to Wikipedia using a 768-dim BERT embedding. I can explain it using morphological richness scores and lexical diversity metrics.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stratum-wise design is the key methodological decision in this thesis. A naive approach would run a single PCA on all 2,926 features. That would be statistically invalid: with 24 observations and 2,926 features you have a rank-23 matrix at best. More importantly, it would mix morphological signals with syntactic signals, creating principal components that are linguistically uninterpretable. By keeping the strata separate, each PC has a coherent semantic interpretation. The S4 stratum is the clearest case: 20 information-theoretic features compressed to just 4 PCs that explain 98.6% of variance — a near-perfect compression because entropy and Zipf statistics are highly correlated across languages.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five statistics per PC are not arbitrary — they are a minimal sufficient statistic for the distribution of that PC across the dataset's languages. The mean tells you where the dataset sits on average, the std and min/max tell you its spread, and the het — which emphasises within-dataset heterogeneity as a first-class feature — captures whether a dataset's languages are clustered or dispersed in this linguistic dimension. A dataset with high mean and low het is linguistically uniform. A dataset with high mean and high het is diverse and challenging. These two datasets need different models even if their averages match. The OrderedDict type guarantees key order — critical when we serialise to numpy arrays for distance computation.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Why Euclidean distance in PCA space rather than cosine similarity on raw features? Three reasons. First, PCA ensures the dimensions are orthogonal — there is no multicollinearity to distort Euclidean distances. Second, we </a:t>
            </a:r>
            <a:r>
              <a:rPr dirty="0" err="1"/>
              <a:t>standardised</a:t>
            </a:r>
            <a:r>
              <a:rPr dirty="0"/>
              <a:t> before PCA, so all features are on the same scale. Third, cosine similarity ignores magnitude, which matters here: a dataset with large PC scores is more extreme in that linguistic dimension, and we want that extremity to count. The k=3 default is conservative given our N=18 knowledge base — increasing k risks pulling in linguistically dissimilar datasets that dilute the vote. The IDW formula is a continuous </a:t>
            </a:r>
            <a:r>
              <a:rPr dirty="0" err="1"/>
              <a:t>generalisation</a:t>
            </a:r>
            <a:r>
              <a:rPr dirty="0"/>
              <a:t> of majority vote where nearer </a:t>
            </a:r>
            <a:r>
              <a:rPr dirty="0" err="1"/>
              <a:t>neighbour</a:t>
            </a:r>
            <a:r>
              <a:rPr dirty="0"/>
              <a:t> = stronger vote.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coverage guard embodies a quality principle from operations research: when you cannot satisfy a hard constraint, degrade gracefully rather than fail silently. A hard exclusion rule would often return no recommendation at all, because our 24-language benchmark cannot anticipate every possible language a user might bring. The soft penalty says: this model is probably suboptimal for your full language set, but here is our best estimate of its performance weighted by how much of your data it actually handles.</a:t>
            </a:r>
          </a:p>
          <a:p>
            <a:endParaRPr/>
          </a:p>
          <a:p>
            <a:r>
              <a:t>The thesis delivers on its core promise: a practitioner with a new multilingual dataset can query the MKB and receive an interpretable, justified model recommendation in under a second, without running a single model evaluation. The system does not pretend to omniscience — the coverage guard and uncertainty estimates are explicit about what the system does not know. This is the hallmark of responsible engineering: a system that fails gracefully and communicates its own limitations. The foundation is solid enough that improvements are incremental, not foundational.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48640"/>
            <a:ext cx="11430000" cy="1280160"/>
          </a:xfrm>
          <a:prstGeom prst="rect">
            <a:avLst/>
          </a:prstGeom>
          <a:noFill/>
        </p:spPr>
        <p:txBody>
          <a:bodyPr wrap="square">
            <a:spAutoFit/>
          </a:bodyPr>
          <a:lstStyle/>
          <a:p>
            <a:pPr algn="l"/>
            <a:r>
              <a:rPr sz="3200" b="1" i="0">
                <a:solidFill>
                  <a:srgbClr val="FFFFFF"/>
                </a:solidFill>
                <a:latin typeface="Calibri"/>
              </a:rPr>
              <a:t>The Interactive LID Model Selection Toolkit</a:t>
            </a:r>
          </a:p>
        </p:txBody>
      </p:sp>
      <p:sp>
        <p:nvSpPr>
          <p:cNvPr id="4" name="Rectangle 3"/>
          <p:cNvSpPr/>
          <p:nvPr/>
        </p:nvSpPr>
        <p:spPr>
          <a:xfrm>
            <a:off x="457200" y="1874519"/>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011680"/>
            <a:ext cx="11430000" cy="457200"/>
          </a:xfrm>
          <a:prstGeom prst="rect">
            <a:avLst/>
          </a:prstGeom>
          <a:noFill/>
        </p:spPr>
        <p:txBody>
          <a:bodyPr wrap="square">
            <a:spAutoFit/>
          </a:bodyPr>
          <a:lstStyle/>
          <a:p>
            <a:pPr algn="l"/>
            <a:r>
              <a:rPr sz="2000" b="0" i="1">
                <a:solidFill>
                  <a:srgbClr val="F5A623"/>
                </a:solidFill>
                <a:latin typeface="Calibri"/>
              </a:rPr>
              <a:t>A Meta-Knowledge Approach to Recommending Language Identification Models</a:t>
            </a:r>
          </a:p>
        </p:txBody>
      </p:sp>
      <p:sp>
        <p:nvSpPr>
          <p:cNvPr id="6" name="Rectangle 5"/>
          <p:cNvSpPr/>
          <p:nvPr/>
        </p:nvSpPr>
        <p:spPr>
          <a:xfrm>
            <a:off x="548640" y="2743200"/>
            <a:ext cx="530352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834640"/>
            <a:ext cx="4937760" cy="3200400"/>
          </a:xfrm>
          <a:prstGeom prst="rect">
            <a:avLst/>
          </a:prstGeom>
          <a:noFill/>
        </p:spPr>
        <p:txBody>
          <a:bodyPr wrap="square">
            <a:spAutoFit/>
          </a:bodyPr>
          <a:lstStyle/>
          <a:p>
            <a:pPr algn="l"/>
            <a:r>
              <a:rPr sz="1400" b="1" i="0">
                <a:solidFill>
                  <a:srgbClr val="E94F37"/>
                </a:solidFill>
                <a:latin typeface="Calibri"/>
              </a:rPr>
              <a:t>Thesis Metadata</a:t>
            </a:r>
          </a:p>
          <a:p>
            <a:pPr algn="l"/>
            <a:endParaRPr sz="1400" b="1" i="0">
              <a:solidFill>
                <a:srgbClr val="E94F37"/>
              </a:solidFill>
              <a:latin typeface="Calibri"/>
            </a:endParaRPr>
          </a:p>
          <a:p>
            <a:pPr algn="l"/>
            <a:r>
              <a:rPr sz="1300" b="0" i="0">
                <a:solidFill>
                  <a:srgbClr val="CCD6E8"/>
                </a:solidFill>
                <a:latin typeface="Calibri"/>
              </a:rPr>
              <a:t>Scope:  18 benchmark datasets  |  24 languages</a:t>
            </a:r>
          </a:p>
          <a:p>
            <a:pPr algn="l"/>
            <a:r>
              <a:rPr sz="1300" b="0" i="0">
                <a:solidFill>
                  <a:srgbClr val="CCD6E8"/>
                </a:solidFill>
                <a:latin typeface="Calibri"/>
              </a:rPr>
              <a:t>Models:  FastText &amp; spaCy variant families</a:t>
            </a:r>
          </a:p>
          <a:p>
            <a:pPr algn="l"/>
            <a:r>
              <a:rPr sz="1300" b="0" i="0">
                <a:solidFill>
                  <a:srgbClr val="CCD6E8"/>
                </a:solidFill>
                <a:latin typeface="Calibri"/>
              </a:rPr>
              <a:t>Output:  Python CLI / API toolkit (HPC + laptop)</a:t>
            </a:r>
          </a:p>
          <a:p>
            <a:pPr algn="l"/>
            <a:r>
              <a:rPr sz="1300" b="0" i="0">
                <a:solidFill>
                  <a:srgbClr val="CCD6E8"/>
                </a:solidFill>
                <a:latin typeface="Calibri"/>
              </a:rPr>
              <a:t>Novelty:  Zero manual tuning  —  query the MKB</a:t>
            </a:r>
          </a:p>
          <a:p>
            <a:pPr algn="l"/>
            <a:endParaRPr sz="1300" b="0" i="0">
              <a:solidFill>
                <a:srgbClr val="CCD6E8"/>
              </a:solidFill>
              <a:latin typeface="Calibri"/>
            </a:endParaRPr>
          </a:p>
          <a:p>
            <a:pPr algn="l"/>
            <a:r>
              <a:rPr sz="1300" b="1" i="0">
                <a:solidFill>
                  <a:srgbClr val="FFFFFF"/>
                </a:solidFill>
                <a:latin typeface="Calibri"/>
              </a:rPr>
              <a:t>Key Pipeline Stages:</a:t>
            </a:r>
          </a:p>
          <a:p>
            <a:pPr algn="l"/>
            <a:r>
              <a:rPr sz="1200" b="0" i="0">
                <a:solidFill>
                  <a:srgbClr val="CCD6E8"/>
                </a:solidFill>
                <a:latin typeface="Calibri"/>
              </a:rPr>
              <a:t>  Raw text  →  DeepProfiler  →  277-dim fingerprint</a:t>
            </a:r>
          </a:p>
          <a:p>
            <a:pPr algn="l"/>
            <a:r>
              <a:rPr sz="1200" b="0" i="0">
                <a:solidFill>
                  <a:srgbClr val="CCD6E8"/>
                </a:solidFill>
                <a:latin typeface="Calibri"/>
              </a:rPr>
              <a:t>  →  k-NN similarity  →  IDW vote  →  Recommendation</a:t>
            </a:r>
          </a:p>
        </p:txBody>
      </p:sp>
      <p:sp>
        <p:nvSpPr>
          <p:cNvPr id="8" name="Rectangle 7"/>
          <p:cNvSpPr/>
          <p:nvPr/>
        </p:nvSpPr>
        <p:spPr>
          <a:xfrm>
            <a:off x="6217920" y="2743200"/>
            <a:ext cx="557784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834640"/>
            <a:ext cx="5212080" cy="3291840"/>
          </a:xfrm>
          <a:prstGeom prst="rect">
            <a:avLst/>
          </a:prstGeom>
          <a:noFill/>
        </p:spPr>
        <p:txBody>
          <a:bodyPr wrap="square">
            <a:spAutoFit/>
          </a:bodyPr>
          <a:lstStyle/>
          <a:p>
            <a:pPr algn="l"/>
            <a:r>
              <a:rPr sz="1300" b="1" i="0">
                <a:solidFill>
                  <a:srgbClr val="F5A623"/>
                </a:solidFill>
                <a:latin typeface="Calibri"/>
              </a:rPr>
              <a:t>Core Recommendation Equation</a:t>
            </a:r>
          </a:p>
          <a:p>
            <a:pPr algn="l"/>
            <a:endParaRPr sz="1300" b="1" i="0">
              <a:solidFill>
                <a:srgbClr val="F5A623"/>
              </a:solidFill>
              <a:latin typeface="Calibri"/>
            </a:endParaRPr>
          </a:p>
          <a:p>
            <a:pPr algn="l"/>
            <a:r>
              <a:rPr sz="1200" b="0" i="1">
                <a:solidFill>
                  <a:srgbClr val="FFFFFF"/>
                </a:solidFill>
                <a:latin typeface="Calibri"/>
              </a:rPr>
              <a:t>m* = arg max_m   Σᵢ∈𝒩ₖ(f̂)  Acc(m, 𝒟ᵢ) · γᵢ(m)</a:t>
            </a:r>
          </a:p>
          <a:p>
            <a:pPr algn="l"/>
            <a:r>
              <a:rPr sz="1100" b="0" i="0">
                <a:solidFill>
                  <a:srgbClr val="CCD6E8"/>
                </a:solidFill>
                <a:latin typeface="Calibri"/>
              </a:rPr>
              <a:t>                 ——————————————————————————————</a:t>
            </a:r>
          </a:p>
          <a:p>
            <a:pPr algn="l"/>
            <a:r>
              <a:rPr sz="1200" b="0" i="1">
                <a:solidFill>
                  <a:srgbClr val="FFFFFF"/>
                </a:solidFill>
                <a:latin typeface="Calibri"/>
              </a:rPr>
              <a:t>                          dᵢ  +  ε</a:t>
            </a:r>
          </a:p>
          <a:p>
            <a:pPr algn="l"/>
            <a:endParaRPr sz="1200" b="0" i="1">
              <a:solidFill>
                <a:srgbClr val="FFFFFF"/>
              </a:solidFill>
              <a:latin typeface="Calibri"/>
            </a:endParaRPr>
          </a:p>
          <a:p>
            <a:pPr algn="l"/>
            <a:r>
              <a:rPr sz="1100" b="1" i="0">
                <a:solidFill>
                  <a:srgbClr val="CCD6E8"/>
                </a:solidFill>
                <a:latin typeface="Calibri"/>
              </a:rPr>
              <a:t>where:</a:t>
            </a:r>
          </a:p>
          <a:p>
            <a:pPr algn="l"/>
            <a:r>
              <a:rPr sz="1100" b="0" i="0">
                <a:solidFill>
                  <a:srgbClr val="CCD6E8"/>
                </a:solidFill>
                <a:latin typeface="Calibri"/>
              </a:rPr>
              <a:t>  dᵢ        =  Euclidean distance in 277-dim PCA fingerprint space</a:t>
            </a:r>
          </a:p>
          <a:p>
            <a:pPr algn="l"/>
            <a:r>
              <a:rPr sz="1100" b="0" i="0">
                <a:solidFill>
                  <a:srgbClr val="CCD6E8"/>
                </a:solidFill>
                <a:latin typeface="Calibri"/>
              </a:rPr>
              <a:t>  γᵢ(m) ∈ (0, 1]  =  language coverage factor for model m at neighbour i</a:t>
            </a:r>
          </a:p>
          <a:p>
            <a:pPr algn="l"/>
            <a:r>
              <a:rPr sz="1100" b="0" i="0">
                <a:solidFill>
                  <a:srgbClr val="CCD6E8"/>
                </a:solidFill>
                <a:latin typeface="Calibri"/>
              </a:rPr>
              <a:t>  ε = 10⁻⁹  (regularisation; prevents division by zero)</a:t>
            </a:r>
          </a:p>
          <a:p>
            <a:pPr algn="l"/>
            <a:r>
              <a:rPr sz="1100" b="0" i="0">
                <a:solidFill>
                  <a:srgbClr val="CCD6E8"/>
                </a:solidFill>
                <a:latin typeface="Calibri"/>
              </a:rPr>
              <a:t>  k = 3  nearest neighbours  |  𝒩ₖ(f̂) = k-NN set of query fingerprint f̂ ∈ ℝ²⁷⁷</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640080"/>
          </a:xfrm>
          <a:prstGeom prst="rect">
            <a:avLst/>
          </a:prstGeom>
          <a:noFill/>
        </p:spPr>
        <p:txBody>
          <a:bodyPr wrap="square"/>
          <a:lstStyle/>
          <a:p>
            <a:pPr algn="l"/>
            <a:r>
              <a:rPr sz="2600" b="1" i="0">
                <a:solidFill>
                  <a:srgbClr val="FFFFFF"/>
                </a:solidFill>
                <a:latin typeface="Calibri"/>
              </a:rPr>
              <a:t>Why LID Model Selection Is a Non-Trivial Engineering Problem</a:t>
            </a:r>
          </a:p>
        </p:txBody>
      </p:sp>
      <p:sp>
        <p:nvSpPr>
          <p:cNvPr id="4" name="Rectangle 3"/>
          <p:cNvSpPr/>
          <p:nvPr/>
        </p:nvSpPr>
        <p:spPr>
          <a:xfrm>
            <a:off x="457200" y="100584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143000"/>
            <a:ext cx="365760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143000"/>
            <a:ext cx="3657600" cy="347472"/>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170432"/>
            <a:ext cx="3474720" cy="320040"/>
          </a:xfrm>
          <a:prstGeom prst="rect">
            <a:avLst/>
          </a:prstGeom>
          <a:noFill/>
        </p:spPr>
        <p:txBody>
          <a:bodyPr wrap="square"/>
          <a:lstStyle/>
          <a:p>
            <a:pPr algn="l"/>
            <a:r>
              <a:rPr sz="1300" b="1" i="0">
                <a:solidFill>
                  <a:srgbClr val="FFFFFF"/>
                </a:solidFill>
                <a:latin typeface="Calibri"/>
              </a:rPr>
              <a:t>The User's Situation</a:t>
            </a:r>
          </a:p>
        </p:txBody>
      </p:sp>
      <p:sp>
        <p:nvSpPr>
          <p:cNvPr id="8" name="TextBox 7"/>
          <p:cNvSpPr txBox="1"/>
          <p:nvPr/>
        </p:nvSpPr>
        <p:spPr>
          <a:xfrm>
            <a:off x="594360" y="1508760"/>
            <a:ext cx="3474720" cy="2926080"/>
          </a:xfrm>
          <a:prstGeom prst="rect">
            <a:avLst/>
          </a:prstGeom>
          <a:noFill/>
        </p:spPr>
        <p:txBody>
          <a:bodyPr wrap="square">
            <a:spAutoFit/>
          </a:bodyPr>
          <a:lstStyle/>
          <a:p>
            <a:pPr algn="l"/>
            <a:endParaRPr/>
          </a:p>
          <a:p>
            <a:pPr algn="l"/>
            <a:r>
              <a:rPr sz="1200" b="0" i="0">
                <a:solidFill>
                  <a:srgbClr val="CCD6E8"/>
                </a:solidFill>
                <a:latin typeface="Calibri"/>
              </a:rPr>
              <a:t>  •  New multilingual dataset arrives</a:t>
            </a:r>
          </a:p>
          <a:p>
            <a:pPr algn="l"/>
            <a:r>
              <a:rPr sz="1200" b="0" i="0">
                <a:solidFill>
                  <a:srgbClr val="CCD6E8"/>
                </a:solidFill>
                <a:latin typeface="Calibri"/>
              </a:rPr>
              <a:t>  •  Dozens of model variants exist</a:t>
            </a:r>
          </a:p>
          <a:p>
            <a:pPr algn="l"/>
            <a:r>
              <a:rPr sz="1200" b="0" i="0">
                <a:solidFill>
                  <a:srgbClr val="CCD6E8"/>
                </a:solidFill>
                <a:latin typeface="Calibri"/>
              </a:rPr>
              <a:t>  •  No principled selection method</a:t>
            </a:r>
          </a:p>
          <a:p>
            <a:pPr algn="l"/>
            <a:r>
              <a:rPr sz="1200" b="0" i="0">
                <a:solidFill>
                  <a:srgbClr val="CCD6E8"/>
                </a:solidFill>
                <a:latin typeface="Calibri"/>
              </a:rPr>
              <a:t>  •  Result: ad-hoc trial-and-error</a:t>
            </a:r>
          </a:p>
          <a:p>
            <a:pPr algn="l"/>
            <a:r>
              <a:rPr sz="1200" b="0" i="0">
                <a:solidFill>
                  <a:srgbClr val="CCD6E8"/>
                </a:solidFill>
                <a:latin typeface="Calibri"/>
              </a:rPr>
              <a:t>  •  Cost: hours of GPU evaluation time</a:t>
            </a:r>
          </a:p>
        </p:txBody>
      </p:sp>
      <p:sp>
        <p:nvSpPr>
          <p:cNvPr id="9" name="Rectangle 8"/>
          <p:cNvSpPr/>
          <p:nvPr/>
        </p:nvSpPr>
        <p:spPr>
          <a:xfrm>
            <a:off x="4343400" y="1143000"/>
            <a:ext cx="365760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143000"/>
            <a:ext cx="3657600" cy="34747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170432"/>
            <a:ext cx="3474720" cy="320040"/>
          </a:xfrm>
          <a:prstGeom prst="rect">
            <a:avLst/>
          </a:prstGeom>
          <a:noFill/>
        </p:spPr>
        <p:txBody>
          <a:bodyPr wrap="square"/>
          <a:lstStyle/>
          <a:p>
            <a:pPr algn="l"/>
            <a:r>
              <a:rPr sz="1300" b="1" i="0">
                <a:solidFill>
                  <a:srgbClr val="FFFFFF"/>
                </a:solidFill>
                <a:latin typeface="Calibri"/>
              </a:rPr>
              <a:t>Current State of Practice</a:t>
            </a:r>
          </a:p>
        </p:txBody>
      </p:sp>
      <p:sp>
        <p:nvSpPr>
          <p:cNvPr id="12" name="TextBox 11"/>
          <p:cNvSpPr txBox="1"/>
          <p:nvPr/>
        </p:nvSpPr>
        <p:spPr>
          <a:xfrm>
            <a:off x="4434840" y="1508760"/>
            <a:ext cx="3474720" cy="2926080"/>
          </a:xfrm>
          <a:prstGeom prst="rect">
            <a:avLst/>
          </a:prstGeom>
          <a:noFill/>
        </p:spPr>
        <p:txBody>
          <a:bodyPr wrap="square">
            <a:spAutoFit/>
          </a:bodyPr>
          <a:lstStyle/>
          <a:p>
            <a:pPr algn="l"/>
            <a:endParaRPr/>
          </a:p>
          <a:p>
            <a:pPr algn="l"/>
            <a:r>
              <a:rPr sz="1200" b="0" i="0">
                <a:solidFill>
                  <a:srgbClr val="CCD6E8"/>
                </a:solidFill>
                <a:latin typeface="Calibri"/>
              </a:rPr>
              <a:t>  •  Run all models on new data</a:t>
            </a:r>
          </a:p>
          <a:p>
            <a:pPr algn="l"/>
            <a:r>
              <a:rPr sz="1200" b="0" i="0">
                <a:solidFill>
                  <a:srgbClr val="CCD6E8"/>
                </a:solidFill>
                <a:latin typeface="Calibri"/>
              </a:rPr>
              <a:t>  •  Pick the winner manually</a:t>
            </a:r>
          </a:p>
          <a:p>
            <a:pPr algn="l"/>
            <a:r>
              <a:rPr sz="1200" b="0" i="0">
                <a:solidFill>
                  <a:srgbClr val="CCD6E8"/>
                </a:solidFill>
                <a:latin typeface="Calibri"/>
              </a:rPr>
              <a:t>  •  Domain shift = silent failure</a:t>
            </a:r>
          </a:p>
          <a:p>
            <a:pPr algn="l"/>
            <a:r>
              <a:rPr sz="1200" b="0" i="0">
                <a:solidFill>
                  <a:srgbClr val="CCD6E8"/>
                </a:solidFill>
                <a:latin typeface="Calibri"/>
              </a:rPr>
              <a:t>  •  Wikipedia-trained model fails</a:t>
            </a:r>
          </a:p>
          <a:p>
            <a:pPr algn="l"/>
            <a:r>
              <a:rPr sz="1200" b="0" i="0">
                <a:solidFill>
                  <a:srgbClr val="CCD6E8"/>
                </a:solidFill>
                <a:latin typeface="Calibri"/>
              </a:rPr>
              <a:t>  •    on social-media corpora</a:t>
            </a:r>
          </a:p>
          <a:p>
            <a:pPr algn="l"/>
            <a:r>
              <a:rPr sz="1200" b="0" i="0">
                <a:solidFill>
                  <a:srgbClr val="CCD6E8"/>
                </a:solidFill>
                <a:latin typeface="Calibri"/>
              </a:rPr>
              <a:t>  •  No transferable knowledge</a:t>
            </a:r>
          </a:p>
        </p:txBody>
      </p:sp>
      <p:sp>
        <p:nvSpPr>
          <p:cNvPr id="13" name="Rectangle 12"/>
          <p:cNvSpPr/>
          <p:nvPr/>
        </p:nvSpPr>
        <p:spPr>
          <a:xfrm>
            <a:off x="8183880" y="1143000"/>
            <a:ext cx="365760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83880" y="1143000"/>
            <a:ext cx="3657600" cy="34747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5320" y="1170432"/>
            <a:ext cx="3474720" cy="320040"/>
          </a:xfrm>
          <a:prstGeom prst="rect">
            <a:avLst/>
          </a:prstGeom>
          <a:noFill/>
        </p:spPr>
        <p:txBody>
          <a:bodyPr wrap="square"/>
          <a:lstStyle/>
          <a:p>
            <a:pPr algn="l"/>
            <a:r>
              <a:rPr sz="1300" b="1" i="0">
                <a:solidFill>
                  <a:srgbClr val="FFFFFF"/>
                </a:solidFill>
                <a:latin typeface="Calibri"/>
              </a:rPr>
              <a:t>The Proposed Solution</a:t>
            </a:r>
          </a:p>
        </p:txBody>
      </p:sp>
      <p:sp>
        <p:nvSpPr>
          <p:cNvPr id="16" name="TextBox 15"/>
          <p:cNvSpPr txBox="1"/>
          <p:nvPr/>
        </p:nvSpPr>
        <p:spPr>
          <a:xfrm>
            <a:off x="8275320" y="1508760"/>
            <a:ext cx="3474720" cy="2926080"/>
          </a:xfrm>
          <a:prstGeom prst="rect">
            <a:avLst/>
          </a:prstGeom>
          <a:noFill/>
        </p:spPr>
        <p:txBody>
          <a:bodyPr wrap="square">
            <a:spAutoFit/>
          </a:bodyPr>
          <a:lstStyle/>
          <a:p>
            <a:pPr algn="l"/>
            <a:endParaRPr/>
          </a:p>
          <a:p>
            <a:pPr algn="l"/>
            <a:r>
              <a:rPr sz="1200" b="0" i="0">
                <a:solidFill>
                  <a:srgbClr val="CCD6E8"/>
                </a:solidFill>
                <a:latin typeface="Calibri"/>
              </a:rPr>
              <a:t>  •  Query the Meta-Knowledge Base</a:t>
            </a:r>
          </a:p>
          <a:p>
            <a:pPr algn="l"/>
            <a:r>
              <a:rPr sz="1200" b="0" i="0">
                <a:solidFill>
                  <a:srgbClr val="CCD6E8"/>
                </a:solidFill>
                <a:latin typeface="Calibri"/>
              </a:rPr>
              <a:t>  •  Sub-second recommendation</a:t>
            </a:r>
          </a:p>
          <a:p>
            <a:pPr algn="l"/>
            <a:r>
              <a:rPr sz="1200" b="0" i="0">
                <a:solidFill>
                  <a:srgbClr val="CCD6E8"/>
                </a:solidFill>
                <a:latin typeface="Calibri"/>
              </a:rPr>
              <a:t>  •  Interpretable explanation</a:t>
            </a:r>
          </a:p>
          <a:p>
            <a:pPr algn="l"/>
            <a:r>
              <a:rPr sz="1200" b="0" i="0">
                <a:solidFill>
                  <a:srgbClr val="CCD6E8"/>
                </a:solidFill>
                <a:latin typeface="Calibri"/>
              </a:rPr>
              <a:t>  •  Coverage gap warnings</a:t>
            </a:r>
          </a:p>
          <a:p>
            <a:pPr algn="l"/>
            <a:r>
              <a:rPr sz="1200" b="0" i="0">
                <a:solidFill>
                  <a:srgbClr val="CCD6E8"/>
                </a:solidFill>
                <a:latin typeface="Calibri"/>
              </a:rPr>
              <a:t>  •  Zero model evaluations needed</a:t>
            </a:r>
          </a:p>
        </p:txBody>
      </p:sp>
      <p:sp>
        <p:nvSpPr>
          <p:cNvPr id="17" name="Rectangle 16"/>
          <p:cNvSpPr/>
          <p:nvPr/>
        </p:nvSpPr>
        <p:spPr>
          <a:xfrm>
            <a:off x="502920" y="4754880"/>
            <a:ext cx="11274552" cy="18288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4828032"/>
            <a:ext cx="10972800" cy="1645920"/>
          </a:xfrm>
          <a:prstGeom prst="rect">
            <a:avLst/>
          </a:prstGeom>
          <a:noFill/>
        </p:spPr>
        <p:txBody>
          <a:bodyPr wrap="square">
            <a:spAutoFit/>
          </a:bodyPr>
          <a:lstStyle/>
          <a:p>
            <a:pPr algn="l"/>
            <a:r>
              <a:rPr sz="1300" b="1" i="0">
                <a:solidFill>
                  <a:srgbClr val="F5A623"/>
                </a:solidFill>
                <a:latin typeface="Calibri"/>
              </a:rPr>
              <a:t>Surrogate Modelling Formulation</a:t>
            </a:r>
          </a:p>
          <a:p>
            <a:pPr algn="l"/>
            <a:endParaRPr sz="1300" b="1" i="0">
              <a:solidFill>
                <a:srgbClr val="F5A623"/>
              </a:solidFill>
              <a:latin typeface="Calibri"/>
            </a:endParaRPr>
          </a:p>
          <a:p>
            <a:pPr algn="l"/>
            <a:r>
              <a:rPr sz="1300" b="0" i="1">
                <a:solidFill>
                  <a:srgbClr val="FFFFFF"/>
                </a:solidFill>
                <a:latin typeface="Calibri"/>
              </a:rPr>
              <a:t>True objective (intractable):   m* = arg max_m  𝔼[ Acc(m, 𝒟_new) ]</a:t>
            </a:r>
          </a:p>
          <a:p>
            <a:pPr algn="l"/>
            <a:endParaRPr sz="1300" b="0" i="1">
              <a:solidFill>
                <a:srgbClr val="FFFFFF"/>
              </a:solidFill>
              <a:latin typeface="Calibri"/>
            </a:endParaRPr>
          </a:p>
          <a:p>
            <a:pPr algn="l"/>
            <a:r>
              <a:rPr sz="1300" b="0" i="1">
                <a:solidFill>
                  <a:srgbClr val="FFFFFF"/>
                </a:solidFill>
                <a:latin typeface="Calibri"/>
              </a:rPr>
              <a:t>MKB approximation:              m* ≈ arg max_m  Σᵢ∈𝒩ₖ(f̂)  wᵢ · Acc(m, 𝒟ᵢ)</a:t>
            </a:r>
          </a:p>
          <a:p>
            <a:pPr algn="l"/>
            <a:endParaRPr sz="1300" b="0" i="1">
              <a:solidFill>
                <a:srgbClr val="FFFFFF"/>
              </a:solidFill>
              <a:latin typeface="Calibri"/>
            </a:endParaRPr>
          </a:p>
          <a:p>
            <a:pPr algn="l"/>
            <a:r>
              <a:rPr sz="1100" b="0" i="0">
                <a:solidFill>
                  <a:srgbClr val="CCD6E8"/>
                </a:solidFill>
                <a:latin typeface="Calibri"/>
              </a:rPr>
              <a:t>where  𝒩ₖ(f̂)  is the k-nearest-neighbour set of the query fingerprint  f̂ ∈ ℝ²⁷⁷</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End-to-End Pipeline: From Raw Parquet to Ranked Recommendations</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274552" cy="292608"/>
          </a:xfrm>
          <a:prstGeom prst="rect">
            <a:avLst/>
          </a:prstGeom>
          <a:solidFill>
            <a:srgbClr val="2C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024128"/>
            <a:ext cx="3657600" cy="256032"/>
          </a:xfrm>
          <a:prstGeom prst="rect">
            <a:avLst/>
          </a:prstGeom>
          <a:noFill/>
        </p:spPr>
        <p:txBody>
          <a:bodyPr wrap="square"/>
          <a:lstStyle/>
          <a:p>
            <a:pPr algn="l"/>
            <a:r>
              <a:rPr sz="1100" b="1" i="0">
                <a:solidFill>
                  <a:srgbClr val="F5A623"/>
                </a:solidFill>
                <a:latin typeface="Calibri"/>
              </a:rPr>
              <a:t>OFFLINE BUILD PHASE  (executed once on HPC)</a:t>
            </a:r>
          </a:p>
        </p:txBody>
      </p:sp>
      <p:sp>
        <p:nvSpPr>
          <p:cNvPr id="7" name="Rectangle 6"/>
          <p:cNvSpPr/>
          <p:nvPr/>
        </p:nvSpPr>
        <p:spPr>
          <a:xfrm>
            <a:off x="502920" y="1371600"/>
            <a:ext cx="2011680" cy="105156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1444752"/>
            <a:ext cx="1865376" cy="960120"/>
          </a:xfrm>
          <a:prstGeom prst="rect">
            <a:avLst/>
          </a:prstGeom>
          <a:noFill/>
        </p:spPr>
        <p:txBody>
          <a:bodyPr wrap="square">
            <a:spAutoFit/>
          </a:bodyPr>
          <a:lstStyle/>
          <a:p>
            <a:pPr algn="ctr"/>
            <a:r>
              <a:rPr sz="1100" b="1" i="0">
                <a:solidFill>
                  <a:srgbClr val="FFFFFF"/>
                </a:solidFill>
                <a:latin typeface="Calibri"/>
              </a:rPr>
              <a:t>18 Dataset Dirs
(.parquet files)</a:t>
            </a:r>
          </a:p>
        </p:txBody>
      </p:sp>
      <p:sp>
        <p:nvSpPr>
          <p:cNvPr id="9" name="TextBox 8"/>
          <p:cNvSpPr txBox="1"/>
          <p:nvPr/>
        </p:nvSpPr>
        <p:spPr>
          <a:xfrm>
            <a:off x="2514600" y="1773936"/>
            <a:ext cx="201168" cy="274320"/>
          </a:xfrm>
          <a:prstGeom prst="rect">
            <a:avLst/>
          </a:prstGeom>
          <a:noFill/>
        </p:spPr>
        <p:txBody>
          <a:bodyPr wrap="square"/>
          <a:lstStyle/>
          <a:p>
            <a:pPr algn="ctr"/>
            <a:r>
              <a:rPr sz="1800" b="1" i="0">
                <a:solidFill>
                  <a:srgbClr val="FFFFFF"/>
                </a:solidFill>
                <a:latin typeface="Calibri"/>
              </a:rPr>
              <a:t>→</a:t>
            </a:r>
          </a:p>
        </p:txBody>
      </p:sp>
      <p:sp>
        <p:nvSpPr>
          <p:cNvPr id="10" name="Rectangle 9"/>
          <p:cNvSpPr/>
          <p:nvPr/>
        </p:nvSpPr>
        <p:spPr>
          <a:xfrm>
            <a:off x="2715768" y="1371600"/>
            <a:ext cx="2011680" cy="105156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88920" y="1444752"/>
            <a:ext cx="1865376" cy="960120"/>
          </a:xfrm>
          <a:prstGeom prst="rect">
            <a:avLst/>
          </a:prstGeom>
          <a:noFill/>
        </p:spPr>
        <p:txBody>
          <a:bodyPr wrap="square">
            <a:spAutoFit/>
          </a:bodyPr>
          <a:lstStyle/>
          <a:p>
            <a:pPr algn="ctr"/>
            <a:r>
              <a:rPr sz="1100" b="1" i="0">
                <a:solidFill>
                  <a:srgbClr val="FFFFFF"/>
                </a:solidFill>
                <a:latin typeface="Calibri"/>
              </a:rPr>
              <a:t>DeepProfiler
2,726 raw features
per language</a:t>
            </a:r>
          </a:p>
        </p:txBody>
      </p:sp>
      <p:sp>
        <p:nvSpPr>
          <p:cNvPr id="12" name="TextBox 11"/>
          <p:cNvSpPr txBox="1"/>
          <p:nvPr/>
        </p:nvSpPr>
        <p:spPr>
          <a:xfrm>
            <a:off x="4727448" y="1773936"/>
            <a:ext cx="201168" cy="274320"/>
          </a:xfrm>
          <a:prstGeom prst="rect">
            <a:avLst/>
          </a:prstGeom>
          <a:noFill/>
        </p:spPr>
        <p:txBody>
          <a:bodyPr wrap="square"/>
          <a:lstStyle/>
          <a:p>
            <a:pPr algn="ctr"/>
            <a:r>
              <a:rPr sz="1800" b="1" i="0">
                <a:solidFill>
                  <a:srgbClr val="FFFFFF"/>
                </a:solidFill>
                <a:latin typeface="Calibri"/>
              </a:rPr>
              <a:t>→</a:t>
            </a:r>
          </a:p>
        </p:txBody>
      </p:sp>
      <p:sp>
        <p:nvSpPr>
          <p:cNvPr id="13" name="Rectangle 12"/>
          <p:cNvSpPr/>
          <p:nvPr/>
        </p:nvSpPr>
        <p:spPr>
          <a:xfrm>
            <a:off x="4928616" y="1371600"/>
            <a:ext cx="2011680" cy="105156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01768" y="1444752"/>
            <a:ext cx="1865376" cy="960120"/>
          </a:xfrm>
          <a:prstGeom prst="rect">
            <a:avLst/>
          </a:prstGeom>
          <a:noFill/>
        </p:spPr>
        <p:txBody>
          <a:bodyPr wrap="square">
            <a:spAutoFit/>
          </a:bodyPr>
          <a:lstStyle/>
          <a:p>
            <a:pPr algn="ctr"/>
            <a:r>
              <a:rPr sz="1100" b="1" i="0">
                <a:solidFill>
                  <a:srgbClr val="FFFFFF"/>
                </a:solidFill>
                <a:latin typeface="Calibri"/>
              </a:rPr>
              <a:t>FeatureStratifier
S1–S5 PCA fit
(95% variance)</a:t>
            </a:r>
          </a:p>
        </p:txBody>
      </p:sp>
      <p:sp>
        <p:nvSpPr>
          <p:cNvPr id="15" name="TextBox 14"/>
          <p:cNvSpPr txBox="1"/>
          <p:nvPr/>
        </p:nvSpPr>
        <p:spPr>
          <a:xfrm>
            <a:off x="6940296" y="1773936"/>
            <a:ext cx="201168" cy="274320"/>
          </a:xfrm>
          <a:prstGeom prst="rect">
            <a:avLst/>
          </a:prstGeom>
          <a:noFill/>
        </p:spPr>
        <p:txBody>
          <a:bodyPr wrap="square"/>
          <a:lstStyle/>
          <a:p>
            <a:pPr algn="ctr"/>
            <a:r>
              <a:rPr sz="1800" b="1" i="0">
                <a:solidFill>
                  <a:srgbClr val="FFFFFF"/>
                </a:solidFill>
                <a:latin typeface="Calibri"/>
              </a:rPr>
              <a:t>→</a:t>
            </a:r>
          </a:p>
        </p:txBody>
      </p:sp>
      <p:sp>
        <p:nvSpPr>
          <p:cNvPr id="16" name="Rectangle 15"/>
          <p:cNvSpPr/>
          <p:nvPr/>
        </p:nvSpPr>
        <p:spPr>
          <a:xfrm>
            <a:off x="7141464" y="1371600"/>
            <a:ext cx="2011680" cy="10515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14616" y="1444752"/>
            <a:ext cx="1865376" cy="960120"/>
          </a:xfrm>
          <a:prstGeom prst="rect">
            <a:avLst/>
          </a:prstGeom>
          <a:noFill/>
        </p:spPr>
        <p:txBody>
          <a:bodyPr wrap="square">
            <a:spAutoFit/>
          </a:bodyPr>
          <a:lstStyle/>
          <a:p>
            <a:pPr algn="ctr"/>
            <a:r>
              <a:rPr sz="1100" b="1" i="0">
                <a:solidFill>
                  <a:srgbClr val="FFFFFF"/>
                </a:solidFill>
                <a:latin typeface="Calibri"/>
              </a:rPr>
              <a:t>FingerprintBuilder
277-dim OrderedDict
per dataset</a:t>
            </a:r>
          </a:p>
        </p:txBody>
      </p:sp>
      <p:sp>
        <p:nvSpPr>
          <p:cNvPr id="18" name="TextBox 17"/>
          <p:cNvSpPr txBox="1"/>
          <p:nvPr/>
        </p:nvSpPr>
        <p:spPr>
          <a:xfrm>
            <a:off x="9153144" y="1773936"/>
            <a:ext cx="201168" cy="274320"/>
          </a:xfrm>
          <a:prstGeom prst="rect">
            <a:avLst/>
          </a:prstGeom>
          <a:noFill/>
        </p:spPr>
        <p:txBody>
          <a:bodyPr wrap="square"/>
          <a:lstStyle/>
          <a:p>
            <a:pPr algn="ctr"/>
            <a:r>
              <a:rPr sz="1800" b="1" i="0">
                <a:solidFill>
                  <a:srgbClr val="FFFFFF"/>
                </a:solidFill>
                <a:latin typeface="Calibri"/>
              </a:rPr>
              <a:t>→</a:t>
            </a:r>
          </a:p>
        </p:txBody>
      </p:sp>
      <p:sp>
        <p:nvSpPr>
          <p:cNvPr id="19" name="Rectangle 18"/>
          <p:cNvSpPr/>
          <p:nvPr/>
        </p:nvSpPr>
        <p:spPr>
          <a:xfrm>
            <a:off x="9354312" y="1371600"/>
            <a:ext cx="2011680" cy="105156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27464" y="1444752"/>
            <a:ext cx="1865376" cy="960120"/>
          </a:xfrm>
          <a:prstGeom prst="rect">
            <a:avLst/>
          </a:prstGeom>
          <a:noFill/>
        </p:spPr>
        <p:txBody>
          <a:bodyPr wrap="square">
            <a:spAutoFit/>
          </a:bodyPr>
          <a:lstStyle/>
          <a:p>
            <a:pPr algn="ctr"/>
            <a:r>
              <a:rPr sz="1100" b="1" i="0">
                <a:solidFill>
                  <a:srgbClr val="FFFFFF"/>
                </a:solidFill>
                <a:latin typeface="Calibri"/>
              </a:rPr>
              <a:t>MKBStore
+ benchmark
performance → mkb.pkl</a:t>
            </a:r>
          </a:p>
        </p:txBody>
      </p:sp>
      <p:sp>
        <p:nvSpPr>
          <p:cNvPr id="21" name="Rectangle 20"/>
          <p:cNvSpPr/>
          <p:nvPr/>
        </p:nvSpPr>
        <p:spPr>
          <a:xfrm>
            <a:off x="502920" y="2606040"/>
            <a:ext cx="11274552" cy="292608"/>
          </a:xfrm>
          <a:prstGeom prst="rect">
            <a:avLst/>
          </a:prstGeom>
          <a:solidFill>
            <a:srgbClr val="1A2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2624328"/>
            <a:ext cx="5486400" cy="256032"/>
          </a:xfrm>
          <a:prstGeom prst="rect">
            <a:avLst/>
          </a:prstGeom>
          <a:noFill/>
        </p:spPr>
        <p:txBody>
          <a:bodyPr wrap="square"/>
          <a:lstStyle/>
          <a:p>
            <a:pPr algn="l"/>
            <a:r>
              <a:rPr sz="1100" b="1" i="0" dirty="0">
                <a:solidFill>
                  <a:srgbClr val="4CAF50"/>
                </a:solidFill>
                <a:latin typeface="Calibri"/>
              </a:rPr>
              <a:t>QUERY PHASE  (sub-second, at recommendation time)</a:t>
            </a:r>
          </a:p>
        </p:txBody>
      </p:sp>
      <p:sp>
        <p:nvSpPr>
          <p:cNvPr id="23" name="Rectangle 22"/>
          <p:cNvSpPr/>
          <p:nvPr/>
        </p:nvSpPr>
        <p:spPr>
          <a:xfrm>
            <a:off x="502920" y="2971800"/>
            <a:ext cx="1828800" cy="105156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72" y="3044952"/>
            <a:ext cx="1682496" cy="960120"/>
          </a:xfrm>
          <a:prstGeom prst="rect">
            <a:avLst/>
          </a:prstGeom>
          <a:noFill/>
        </p:spPr>
        <p:txBody>
          <a:bodyPr wrap="square">
            <a:spAutoFit/>
          </a:bodyPr>
          <a:lstStyle/>
          <a:p>
            <a:pPr algn="ctr"/>
            <a:r>
              <a:rPr sz="1100" b="1" i="0">
                <a:solidFill>
                  <a:srgbClr val="FFFFFF"/>
                </a:solidFill>
                <a:latin typeface="Calibri"/>
              </a:rPr>
              <a:t>User
text_series</a:t>
            </a:r>
          </a:p>
        </p:txBody>
      </p:sp>
      <p:sp>
        <p:nvSpPr>
          <p:cNvPr id="25" name="TextBox 24"/>
          <p:cNvSpPr txBox="1"/>
          <p:nvPr/>
        </p:nvSpPr>
        <p:spPr>
          <a:xfrm>
            <a:off x="2331720" y="3374136"/>
            <a:ext cx="91440" cy="274320"/>
          </a:xfrm>
          <a:prstGeom prst="rect">
            <a:avLst/>
          </a:prstGeom>
          <a:noFill/>
        </p:spPr>
        <p:txBody>
          <a:bodyPr wrap="square"/>
          <a:lstStyle/>
          <a:p>
            <a:pPr algn="ctr"/>
            <a:r>
              <a:rPr sz="1600" b="1" i="0">
                <a:solidFill>
                  <a:srgbClr val="FFFFFF"/>
                </a:solidFill>
                <a:latin typeface="Calibri"/>
              </a:rPr>
              <a:t>→</a:t>
            </a:r>
          </a:p>
        </p:txBody>
      </p:sp>
      <p:sp>
        <p:nvSpPr>
          <p:cNvPr id="26" name="Rectangle 25"/>
          <p:cNvSpPr/>
          <p:nvPr/>
        </p:nvSpPr>
        <p:spPr>
          <a:xfrm>
            <a:off x="2423160" y="2971800"/>
            <a:ext cx="1828800" cy="105156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96312" y="3044952"/>
            <a:ext cx="1682496" cy="960120"/>
          </a:xfrm>
          <a:prstGeom prst="rect">
            <a:avLst/>
          </a:prstGeom>
          <a:noFill/>
        </p:spPr>
        <p:txBody>
          <a:bodyPr wrap="square">
            <a:spAutoFit/>
          </a:bodyPr>
          <a:lstStyle/>
          <a:p>
            <a:pPr algn="ctr"/>
            <a:r>
              <a:rPr sz="1100" b="1" i="0">
                <a:solidFill>
                  <a:srgbClr val="FFFFFF"/>
                </a:solidFill>
                <a:latin typeface="Calibri"/>
              </a:rPr>
              <a:t>DeepProfiler
get_multilingual
_profile()</a:t>
            </a:r>
          </a:p>
        </p:txBody>
      </p:sp>
      <p:sp>
        <p:nvSpPr>
          <p:cNvPr id="28" name="TextBox 27"/>
          <p:cNvSpPr txBox="1"/>
          <p:nvPr/>
        </p:nvSpPr>
        <p:spPr>
          <a:xfrm>
            <a:off x="4251960" y="3374136"/>
            <a:ext cx="91440" cy="274320"/>
          </a:xfrm>
          <a:prstGeom prst="rect">
            <a:avLst/>
          </a:prstGeom>
          <a:noFill/>
        </p:spPr>
        <p:txBody>
          <a:bodyPr wrap="square"/>
          <a:lstStyle/>
          <a:p>
            <a:pPr algn="ctr"/>
            <a:r>
              <a:rPr sz="1600" b="1" i="0">
                <a:solidFill>
                  <a:srgbClr val="FFFFFF"/>
                </a:solidFill>
                <a:latin typeface="Calibri"/>
              </a:rPr>
              <a:t>→</a:t>
            </a:r>
          </a:p>
        </p:txBody>
      </p:sp>
      <p:sp>
        <p:nvSpPr>
          <p:cNvPr id="29" name="Rectangle 28"/>
          <p:cNvSpPr/>
          <p:nvPr/>
        </p:nvSpPr>
        <p:spPr>
          <a:xfrm>
            <a:off x="4343400" y="2971800"/>
            <a:ext cx="1828800" cy="105156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16552" y="3044952"/>
            <a:ext cx="1682496" cy="960120"/>
          </a:xfrm>
          <a:prstGeom prst="rect">
            <a:avLst/>
          </a:prstGeom>
          <a:noFill/>
        </p:spPr>
        <p:txBody>
          <a:bodyPr wrap="square">
            <a:spAutoFit/>
          </a:bodyPr>
          <a:lstStyle/>
          <a:p>
            <a:pPr algn="ctr"/>
            <a:r>
              <a:rPr sz="1100" b="1" i="0">
                <a:solidFill>
                  <a:srgbClr val="FFFFFF"/>
                </a:solidFill>
                <a:latin typeface="Calibri"/>
              </a:rPr>
              <a:t>Fitted
FeatureStratifier
(from mkb.pkl)</a:t>
            </a:r>
          </a:p>
        </p:txBody>
      </p:sp>
      <p:sp>
        <p:nvSpPr>
          <p:cNvPr id="31" name="TextBox 30"/>
          <p:cNvSpPr txBox="1"/>
          <p:nvPr/>
        </p:nvSpPr>
        <p:spPr>
          <a:xfrm>
            <a:off x="6172200" y="3374136"/>
            <a:ext cx="91440" cy="274320"/>
          </a:xfrm>
          <a:prstGeom prst="rect">
            <a:avLst/>
          </a:prstGeom>
          <a:noFill/>
        </p:spPr>
        <p:txBody>
          <a:bodyPr wrap="square"/>
          <a:lstStyle/>
          <a:p>
            <a:pPr algn="ctr"/>
            <a:r>
              <a:rPr sz="1600" b="1" i="0">
                <a:solidFill>
                  <a:srgbClr val="FFFFFF"/>
                </a:solidFill>
                <a:latin typeface="Calibri"/>
              </a:rPr>
              <a:t>→</a:t>
            </a:r>
          </a:p>
        </p:txBody>
      </p:sp>
      <p:sp>
        <p:nvSpPr>
          <p:cNvPr id="32" name="Rectangle 31"/>
          <p:cNvSpPr/>
          <p:nvPr/>
        </p:nvSpPr>
        <p:spPr>
          <a:xfrm>
            <a:off x="6263640" y="2971800"/>
            <a:ext cx="1828800" cy="10515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36792" y="3044952"/>
            <a:ext cx="1682496" cy="960120"/>
          </a:xfrm>
          <a:prstGeom prst="rect">
            <a:avLst/>
          </a:prstGeom>
          <a:noFill/>
        </p:spPr>
        <p:txBody>
          <a:bodyPr wrap="square">
            <a:spAutoFit/>
          </a:bodyPr>
          <a:lstStyle/>
          <a:p>
            <a:pPr algn="ctr"/>
            <a:r>
              <a:rPr sz="1100" b="1" i="0">
                <a:solidFill>
                  <a:srgbClr val="FFFFFF"/>
                </a:solidFill>
                <a:latin typeface="Calibri"/>
              </a:rPr>
              <a:t>Query
Fingerprint
f̂ ∈ ℝ²⁷⁷</a:t>
            </a:r>
          </a:p>
        </p:txBody>
      </p:sp>
      <p:sp>
        <p:nvSpPr>
          <p:cNvPr id="34" name="TextBox 33"/>
          <p:cNvSpPr txBox="1"/>
          <p:nvPr/>
        </p:nvSpPr>
        <p:spPr>
          <a:xfrm>
            <a:off x="8092440" y="3374136"/>
            <a:ext cx="91440" cy="274320"/>
          </a:xfrm>
          <a:prstGeom prst="rect">
            <a:avLst/>
          </a:prstGeom>
          <a:noFill/>
        </p:spPr>
        <p:txBody>
          <a:bodyPr wrap="square"/>
          <a:lstStyle/>
          <a:p>
            <a:pPr algn="ctr"/>
            <a:r>
              <a:rPr sz="1600" b="1" i="0">
                <a:solidFill>
                  <a:srgbClr val="FFFFFF"/>
                </a:solidFill>
                <a:latin typeface="Calibri"/>
              </a:rPr>
              <a:t>→</a:t>
            </a:r>
          </a:p>
        </p:txBody>
      </p:sp>
      <p:sp>
        <p:nvSpPr>
          <p:cNvPr id="35" name="Rectangle 34"/>
          <p:cNvSpPr/>
          <p:nvPr/>
        </p:nvSpPr>
        <p:spPr>
          <a:xfrm>
            <a:off x="8183880" y="2971800"/>
            <a:ext cx="1828800" cy="105156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57032" y="3044952"/>
            <a:ext cx="1682496" cy="960120"/>
          </a:xfrm>
          <a:prstGeom prst="rect">
            <a:avLst/>
          </a:prstGeom>
          <a:noFill/>
        </p:spPr>
        <p:txBody>
          <a:bodyPr wrap="square">
            <a:spAutoFit/>
          </a:bodyPr>
          <a:lstStyle/>
          <a:p>
            <a:pPr algn="ctr"/>
            <a:r>
              <a:rPr sz="1100" b="1" i="0">
                <a:solidFill>
                  <a:srgbClr val="FFFFFF"/>
                </a:solidFill>
                <a:latin typeface="Calibri"/>
              </a:rPr>
              <a:t>SimilarityEngine
k-NN + IDW
+ CoverageGuard</a:t>
            </a:r>
          </a:p>
        </p:txBody>
      </p:sp>
      <p:sp>
        <p:nvSpPr>
          <p:cNvPr id="37" name="TextBox 36"/>
          <p:cNvSpPr txBox="1"/>
          <p:nvPr/>
        </p:nvSpPr>
        <p:spPr>
          <a:xfrm>
            <a:off x="10012680" y="3374136"/>
            <a:ext cx="91440" cy="274320"/>
          </a:xfrm>
          <a:prstGeom prst="rect">
            <a:avLst/>
          </a:prstGeom>
          <a:noFill/>
        </p:spPr>
        <p:txBody>
          <a:bodyPr wrap="square"/>
          <a:lstStyle/>
          <a:p>
            <a:pPr algn="ctr"/>
            <a:r>
              <a:rPr sz="1600" b="1" i="0">
                <a:solidFill>
                  <a:srgbClr val="FFFFFF"/>
                </a:solidFill>
                <a:latin typeface="Calibri"/>
              </a:rPr>
              <a:t>→</a:t>
            </a:r>
          </a:p>
        </p:txBody>
      </p:sp>
      <p:sp>
        <p:nvSpPr>
          <p:cNvPr id="38" name="Rectangle 37"/>
          <p:cNvSpPr/>
          <p:nvPr/>
        </p:nvSpPr>
        <p:spPr>
          <a:xfrm>
            <a:off x="10104120" y="2971800"/>
            <a:ext cx="1828800" cy="10515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77272" y="3044952"/>
            <a:ext cx="1682496" cy="960120"/>
          </a:xfrm>
          <a:prstGeom prst="rect">
            <a:avLst/>
          </a:prstGeom>
          <a:noFill/>
        </p:spPr>
        <p:txBody>
          <a:bodyPr wrap="square">
            <a:spAutoFit/>
          </a:bodyPr>
          <a:lstStyle/>
          <a:p>
            <a:pPr algn="ctr"/>
            <a:r>
              <a:rPr sz="1100" b="1" i="0">
                <a:solidFill>
                  <a:srgbClr val="FFFFFF"/>
                </a:solidFill>
                <a:latin typeface="Calibri"/>
              </a:rPr>
              <a:t>Ranked
Models +
Confidence</a:t>
            </a:r>
          </a:p>
        </p:txBody>
      </p:sp>
      <p:sp>
        <p:nvSpPr>
          <p:cNvPr id="40" name="Rectangle 39"/>
          <p:cNvSpPr/>
          <p:nvPr/>
        </p:nvSpPr>
        <p:spPr>
          <a:xfrm>
            <a:off x="502920" y="4160520"/>
            <a:ext cx="11274552" cy="246888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5800" y="4233672"/>
            <a:ext cx="10972800" cy="2331720"/>
          </a:xfrm>
          <a:prstGeom prst="rect">
            <a:avLst/>
          </a:prstGeom>
          <a:noFill/>
        </p:spPr>
        <p:txBody>
          <a:bodyPr wrap="square">
            <a:spAutoFit/>
          </a:bodyPr>
          <a:lstStyle/>
          <a:p>
            <a:pPr algn="l"/>
            <a:r>
              <a:rPr sz="1300" b="1" i="0">
                <a:solidFill>
                  <a:srgbClr val="F5A623"/>
                </a:solidFill>
                <a:latin typeface="Calibri"/>
              </a:rPr>
              <a:t>Two-Phase Mathematical Formulation</a:t>
            </a:r>
          </a:p>
          <a:p>
            <a:pPr algn="l"/>
            <a:endParaRPr sz="1300" b="1" i="0">
              <a:solidFill>
                <a:srgbClr val="F5A623"/>
              </a:solidFill>
              <a:latin typeface="Calibri"/>
            </a:endParaRPr>
          </a:p>
          <a:p>
            <a:pPr algn="l"/>
            <a:r>
              <a:rPr sz="1200" b="0" i="1">
                <a:solidFill>
                  <a:srgbClr val="FFFFFF"/>
                </a:solidFill>
                <a:latin typeface="Calibri"/>
              </a:rPr>
              <a:t>Phase 1  —  Profiling:    Φ : 𝒟  →  𝐏 ∈ ℝᶠˣᴸ       F = 2,726 raw features,  L = |Λⱼ| languages in dataset</a:t>
            </a:r>
          </a:p>
          <a:p>
            <a:pPr algn="l"/>
            <a:endParaRPr sz="1200" b="0" i="1">
              <a:solidFill>
                <a:srgbClr val="FFFFFF"/>
              </a:solidFill>
              <a:latin typeface="Calibri"/>
            </a:endParaRPr>
          </a:p>
          <a:p>
            <a:pPr algn="l"/>
            <a:r>
              <a:rPr sz="1200" b="0" i="1">
                <a:solidFill>
                  <a:srgbClr val="FFFFFF"/>
                </a:solidFill>
                <a:latin typeface="Calibri"/>
              </a:rPr>
              <a:t>Phase 2  —  Fingerprint:  Ψ : 𝐏  →  f ∈ ℝ²⁷⁷       Ψ = Agg ∘ PCAₛ ∘ Std    (per stratum s)</a:t>
            </a:r>
          </a:p>
          <a:p>
            <a:pPr algn="l"/>
            <a:endParaRPr sz="1200" b="0" i="1">
              <a:solidFill>
                <a:srgbClr val="FFFFFF"/>
              </a:solidFill>
              <a:latin typeface="Calibri"/>
            </a:endParaRPr>
          </a:p>
          <a:p>
            <a:pPr algn="l"/>
            <a:r>
              <a:rPr sz="1200" b="0" i="1">
                <a:solidFill>
                  <a:srgbClr val="FFFFFF"/>
                </a:solidFill>
                <a:latin typeface="Calibri"/>
              </a:rPr>
              <a:t>Query:                    f̂   →  [SimilarityEngine]  →  m* ∈ ℳ           (&lt; 100 ms on laptop)</a:t>
            </a:r>
          </a:p>
          <a:p>
            <a:pPr algn="l"/>
            <a:endParaRPr sz="1200" b="0" i="1">
              <a:solidFill>
                <a:srgbClr val="FFFFFF"/>
              </a:solidFill>
              <a:latin typeface="Calibri"/>
            </a:endParaRPr>
          </a:p>
          <a:p>
            <a:pPr algn="l"/>
            <a:r>
              <a:rPr sz="1100" b="0" i="0">
                <a:solidFill>
                  <a:srgbClr val="CCD6E8"/>
                </a:solidFill>
                <a:latin typeface="Calibri"/>
              </a:rPr>
              <a:t>Critical constraint:  The FITTED FeatureStratifier (StandardScaler + PCA) serialised in mkb.pkl must be</a:t>
            </a:r>
          </a:p>
          <a:p>
            <a:pPr algn="l"/>
            <a:r>
              <a:rPr sz="1100" b="0" i="0">
                <a:solidFill>
                  <a:srgbClr val="CCD6E8"/>
                </a:solidFill>
                <a:latin typeface="Calibri"/>
              </a:rPr>
              <a:t>reused at query time — never refit.  Refitting destroys comparability with MKB fingerprints.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The 18 Knowledge Benchmark Datasets: Diversity by Design</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6949440" cy="56235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005840"/>
            <a:ext cx="2331720" cy="278892"/>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042416"/>
            <a:ext cx="2258568" cy="242316"/>
          </a:xfrm>
          <a:prstGeom prst="rect">
            <a:avLst/>
          </a:prstGeom>
          <a:noFill/>
        </p:spPr>
        <p:txBody>
          <a:bodyPr wrap="square"/>
          <a:lstStyle/>
          <a:p>
            <a:pPr algn="l"/>
            <a:r>
              <a:rPr sz="1100" b="1" i="0">
                <a:solidFill>
                  <a:srgbClr val="F5A623"/>
                </a:solidFill>
                <a:latin typeface="Calibri"/>
              </a:rPr>
              <a:t>Dataset</a:t>
            </a:r>
          </a:p>
        </p:txBody>
      </p:sp>
      <p:sp>
        <p:nvSpPr>
          <p:cNvPr id="8" name="Rectangle 7"/>
          <p:cNvSpPr/>
          <p:nvPr/>
        </p:nvSpPr>
        <p:spPr>
          <a:xfrm>
            <a:off x="2834640" y="1005840"/>
            <a:ext cx="2926080" cy="278892"/>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98648" y="1042416"/>
            <a:ext cx="2852928" cy="242316"/>
          </a:xfrm>
          <a:prstGeom prst="rect">
            <a:avLst/>
          </a:prstGeom>
          <a:noFill/>
        </p:spPr>
        <p:txBody>
          <a:bodyPr wrap="square"/>
          <a:lstStyle/>
          <a:p>
            <a:pPr algn="l"/>
            <a:r>
              <a:rPr sz="1100" b="1" i="0">
                <a:solidFill>
                  <a:srgbClr val="F5A623"/>
                </a:solidFill>
                <a:latin typeface="Calibri"/>
              </a:rPr>
              <a:t>Domain</a:t>
            </a:r>
          </a:p>
        </p:txBody>
      </p:sp>
      <p:sp>
        <p:nvSpPr>
          <p:cNvPr id="10" name="Rectangle 9"/>
          <p:cNvSpPr/>
          <p:nvPr/>
        </p:nvSpPr>
        <p:spPr>
          <a:xfrm>
            <a:off x="5760720" y="1005840"/>
            <a:ext cx="822960" cy="278892"/>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24728" y="1042416"/>
            <a:ext cx="749808" cy="242316"/>
          </a:xfrm>
          <a:prstGeom prst="rect">
            <a:avLst/>
          </a:prstGeom>
          <a:noFill/>
        </p:spPr>
        <p:txBody>
          <a:bodyPr wrap="square"/>
          <a:lstStyle/>
          <a:p>
            <a:pPr algn="l"/>
            <a:r>
              <a:rPr sz="1100" b="1" i="0">
                <a:solidFill>
                  <a:srgbClr val="F5A623"/>
                </a:solidFill>
                <a:latin typeface="Calibri"/>
              </a:rPr>
              <a:t># Lang</a:t>
            </a:r>
          </a:p>
        </p:txBody>
      </p:sp>
      <p:sp>
        <p:nvSpPr>
          <p:cNvPr id="12" name="Rectangle 11"/>
          <p:cNvSpPr/>
          <p:nvPr/>
        </p:nvSpPr>
        <p:spPr>
          <a:xfrm>
            <a:off x="502920" y="1284732"/>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321308"/>
            <a:ext cx="2258568" cy="242316"/>
          </a:xfrm>
          <a:prstGeom prst="rect">
            <a:avLst/>
          </a:prstGeom>
          <a:noFill/>
        </p:spPr>
        <p:txBody>
          <a:bodyPr wrap="square"/>
          <a:lstStyle/>
          <a:p>
            <a:pPr algn="l"/>
            <a:r>
              <a:rPr sz="1000" b="0" i="0">
                <a:solidFill>
                  <a:srgbClr val="FFFFFF"/>
                </a:solidFill>
                <a:latin typeface="Calibri"/>
              </a:rPr>
              <a:t>OpenLID-v2</a:t>
            </a:r>
          </a:p>
        </p:txBody>
      </p:sp>
      <p:sp>
        <p:nvSpPr>
          <p:cNvPr id="14" name="Rectangle 13"/>
          <p:cNvSpPr/>
          <p:nvPr/>
        </p:nvSpPr>
        <p:spPr>
          <a:xfrm>
            <a:off x="2834640" y="1284732"/>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98648" y="1321308"/>
            <a:ext cx="2852928" cy="242316"/>
          </a:xfrm>
          <a:prstGeom prst="rect">
            <a:avLst/>
          </a:prstGeom>
          <a:noFill/>
        </p:spPr>
        <p:txBody>
          <a:bodyPr wrap="square"/>
          <a:lstStyle/>
          <a:p>
            <a:pPr algn="l"/>
            <a:r>
              <a:rPr sz="1000" b="0" i="0">
                <a:solidFill>
                  <a:srgbClr val="CCD6E8"/>
                </a:solidFill>
                <a:latin typeface="Calibri"/>
              </a:rPr>
              <a:t>Curated LID benchmark</a:t>
            </a:r>
          </a:p>
        </p:txBody>
      </p:sp>
      <p:sp>
        <p:nvSpPr>
          <p:cNvPr id="16" name="Rectangle 15"/>
          <p:cNvSpPr/>
          <p:nvPr/>
        </p:nvSpPr>
        <p:spPr>
          <a:xfrm>
            <a:off x="5760720" y="1284732"/>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24728" y="1321308"/>
            <a:ext cx="749808" cy="242316"/>
          </a:xfrm>
          <a:prstGeom prst="rect">
            <a:avLst/>
          </a:prstGeom>
          <a:noFill/>
        </p:spPr>
        <p:txBody>
          <a:bodyPr wrap="square"/>
          <a:lstStyle/>
          <a:p>
            <a:pPr algn="l"/>
            <a:r>
              <a:rPr sz="1000" b="0" i="0">
                <a:solidFill>
                  <a:srgbClr val="CCD6E8"/>
                </a:solidFill>
                <a:latin typeface="Calibri"/>
              </a:rPr>
              <a:t>23</a:t>
            </a:r>
          </a:p>
        </p:txBody>
      </p:sp>
      <p:sp>
        <p:nvSpPr>
          <p:cNvPr id="18" name="Rectangle 17"/>
          <p:cNvSpPr/>
          <p:nvPr/>
        </p:nvSpPr>
        <p:spPr>
          <a:xfrm>
            <a:off x="502920" y="1563624"/>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1600200"/>
            <a:ext cx="2258568" cy="242316"/>
          </a:xfrm>
          <a:prstGeom prst="rect">
            <a:avLst/>
          </a:prstGeom>
          <a:noFill/>
        </p:spPr>
        <p:txBody>
          <a:bodyPr wrap="square"/>
          <a:lstStyle/>
          <a:p>
            <a:pPr algn="l"/>
            <a:r>
              <a:rPr sz="1000" b="0" i="0">
                <a:solidFill>
                  <a:srgbClr val="FFFFFF"/>
                </a:solidFill>
                <a:latin typeface="Calibri"/>
              </a:rPr>
              <a:t>wikipedia</a:t>
            </a:r>
          </a:p>
        </p:txBody>
      </p:sp>
      <p:sp>
        <p:nvSpPr>
          <p:cNvPr id="20" name="Rectangle 19"/>
          <p:cNvSpPr/>
          <p:nvPr/>
        </p:nvSpPr>
        <p:spPr>
          <a:xfrm>
            <a:off x="2834640" y="1563624"/>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98648" y="1600200"/>
            <a:ext cx="2852928" cy="242316"/>
          </a:xfrm>
          <a:prstGeom prst="rect">
            <a:avLst/>
          </a:prstGeom>
          <a:noFill/>
        </p:spPr>
        <p:txBody>
          <a:bodyPr wrap="square"/>
          <a:lstStyle/>
          <a:p>
            <a:pPr algn="l"/>
            <a:r>
              <a:rPr sz="1000" b="0" i="0">
                <a:solidFill>
                  <a:srgbClr val="CCD6E8"/>
                </a:solidFill>
                <a:latin typeface="Calibri"/>
              </a:rPr>
              <a:t>Encyclopaedic</a:t>
            </a:r>
          </a:p>
        </p:txBody>
      </p:sp>
      <p:sp>
        <p:nvSpPr>
          <p:cNvPr id="22" name="Rectangle 21"/>
          <p:cNvSpPr/>
          <p:nvPr/>
        </p:nvSpPr>
        <p:spPr>
          <a:xfrm>
            <a:off x="5760720" y="1563624"/>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24728" y="1600200"/>
            <a:ext cx="749808" cy="242316"/>
          </a:xfrm>
          <a:prstGeom prst="rect">
            <a:avLst/>
          </a:prstGeom>
          <a:noFill/>
        </p:spPr>
        <p:txBody>
          <a:bodyPr wrap="square"/>
          <a:lstStyle/>
          <a:p>
            <a:pPr algn="l"/>
            <a:r>
              <a:rPr sz="1000" b="0" i="0">
                <a:solidFill>
                  <a:srgbClr val="CCD6E8"/>
                </a:solidFill>
                <a:latin typeface="Calibri"/>
              </a:rPr>
              <a:t>24</a:t>
            </a:r>
          </a:p>
        </p:txBody>
      </p:sp>
      <p:sp>
        <p:nvSpPr>
          <p:cNvPr id="24" name="Rectangle 23"/>
          <p:cNvSpPr/>
          <p:nvPr/>
        </p:nvSpPr>
        <p:spPr>
          <a:xfrm>
            <a:off x="502920" y="1842516"/>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1879092"/>
            <a:ext cx="2258568" cy="242316"/>
          </a:xfrm>
          <a:prstGeom prst="rect">
            <a:avLst/>
          </a:prstGeom>
          <a:noFill/>
        </p:spPr>
        <p:txBody>
          <a:bodyPr wrap="square"/>
          <a:lstStyle/>
          <a:p>
            <a:pPr algn="l"/>
            <a:r>
              <a:rPr sz="1000" b="0" i="0">
                <a:solidFill>
                  <a:srgbClr val="FFFFFF"/>
                </a:solidFill>
                <a:latin typeface="Calibri"/>
              </a:rPr>
              <a:t>exorde</a:t>
            </a:r>
          </a:p>
        </p:txBody>
      </p:sp>
      <p:sp>
        <p:nvSpPr>
          <p:cNvPr id="26" name="Rectangle 25"/>
          <p:cNvSpPr/>
          <p:nvPr/>
        </p:nvSpPr>
        <p:spPr>
          <a:xfrm>
            <a:off x="2834640" y="1842516"/>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98648" y="1879092"/>
            <a:ext cx="2852928" cy="242316"/>
          </a:xfrm>
          <a:prstGeom prst="rect">
            <a:avLst/>
          </a:prstGeom>
          <a:noFill/>
        </p:spPr>
        <p:txBody>
          <a:bodyPr wrap="square"/>
          <a:lstStyle/>
          <a:p>
            <a:pPr algn="l"/>
            <a:r>
              <a:rPr sz="1000" b="0" i="0">
                <a:solidFill>
                  <a:srgbClr val="CCD6E8"/>
                </a:solidFill>
                <a:latin typeface="Calibri"/>
              </a:rPr>
              <a:t>Social media</a:t>
            </a:r>
          </a:p>
        </p:txBody>
      </p:sp>
      <p:sp>
        <p:nvSpPr>
          <p:cNvPr id="28" name="Rectangle 27"/>
          <p:cNvSpPr/>
          <p:nvPr/>
        </p:nvSpPr>
        <p:spPr>
          <a:xfrm>
            <a:off x="5760720" y="1842516"/>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24728" y="1879092"/>
            <a:ext cx="749808" cy="242316"/>
          </a:xfrm>
          <a:prstGeom prst="rect">
            <a:avLst/>
          </a:prstGeom>
          <a:noFill/>
        </p:spPr>
        <p:txBody>
          <a:bodyPr wrap="square"/>
          <a:lstStyle/>
          <a:p>
            <a:pPr algn="l"/>
            <a:r>
              <a:rPr sz="1000" b="0" i="0">
                <a:solidFill>
                  <a:srgbClr val="CCD6E8"/>
                </a:solidFill>
                <a:latin typeface="Calibri"/>
              </a:rPr>
              <a:t>24</a:t>
            </a:r>
          </a:p>
        </p:txBody>
      </p:sp>
      <p:sp>
        <p:nvSpPr>
          <p:cNvPr id="30" name="Rectangle 29"/>
          <p:cNvSpPr/>
          <p:nvPr/>
        </p:nvSpPr>
        <p:spPr>
          <a:xfrm>
            <a:off x="502920" y="2121408"/>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2157984"/>
            <a:ext cx="2258568" cy="242316"/>
          </a:xfrm>
          <a:prstGeom prst="rect">
            <a:avLst/>
          </a:prstGeom>
          <a:noFill/>
        </p:spPr>
        <p:txBody>
          <a:bodyPr wrap="square"/>
          <a:lstStyle/>
          <a:p>
            <a:pPr algn="l"/>
            <a:r>
              <a:rPr sz="1000" b="0" i="0">
                <a:solidFill>
                  <a:srgbClr val="FFFFFF"/>
                </a:solidFill>
                <a:latin typeface="Calibri"/>
              </a:rPr>
              <a:t>flores_plus</a:t>
            </a:r>
          </a:p>
        </p:txBody>
      </p:sp>
      <p:sp>
        <p:nvSpPr>
          <p:cNvPr id="32" name="Rectangle 31"/>
          <p:cNvSpPr/>
          <p:nvPr/>
        </p:nvSpPr>
        <p:spPr>
          <a:xfrm>
            <a:off x="2834640" y="2121408"/>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898648" y="2157984"/>
            <a:ext cx="2852928" cy="242316"/>
          </a:xfrm>
          <a:prstGeom prst="rect">
            <a:avLst/>
          </a:prstGeom>
          <a:noFill/>
        </p:spPr>
        <p:txBody>
          <a:bodyPr wrap="square"/>
          <a:lstStyle/>
          <a:p>
            <a:pPr algn="l"/>
            <a:r>
              <a:rPr sz="1000" b="0" i="0">
                <a:solidFill>
                  <a:srgbClr val="CCD6E8"/>
                </a:solidFill>
                <a:latin typeface="Calibri"/>
              </a:rPr>
              <a:t>Low-resource NLP</a:t>
            </a:r>
          </a:p>
        </p:txBody>
      </p:sp>
      <p:sp>
        <p:nvSpPr>
          <p:cNvPr id="34" name="Rectangle 33"/>
          <p:cNvSpPr/>
          <p:nvPr/>
        </p:nvSpPr>
        <p:spPr>
          <a:xfrm>
            <a:off x="5760720" y="2121408"/>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824728" y="2157984"/>
            <a:ext cx="749808" cy="242316"/>
          </a:xfrm>
          <a:prstGeom prst="rect">
            <a:avLst/>
          </a:prstGeom>
          <a:noFill/>
        </p:spPr>
        <p:txBody>
          <a:bodyPr wrap="square"/>
          <a:lstStyle/>
          <a:p>
            <a:pPr algn="l"/>
            <a:r>
              <a:rPr sz="1000" b="0" i="0">
                <a:solidFill>
                  <a:srgbClr val="CCD6E8"/>
                </a:solidFill>
                <a:latin typeface="Calibri"/>
              </a:rPr>
              <a:t>23</a:t>
            </a:r>
          </a:p>
        </p:txBody>
      </p:sp>
      <p:sp>
        <p:nvSpPr>
          <p:cNvPr id="36" name="Rectangle 35"/>
          <p:cNvSpPr/>
          <p:nvPr/>
        </p:nvSpPr>
        <p:spPr>
          <a:xfrm>
            <a:off x="502920" y="2400300"/>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2436876"/>
            <a:ext cx="2258568" cy="242316"/>
          </a:xfrm>
          <a:prstGeom prst="rect">
            <a:avLst/>
          </a:prstGeom>
          <a:noFill/>
        </p:spPr>
        <p:txBody>
          <a:bodyPr wrap="square"/>
          <a:lstStyle/>
          <a:p>
            <a:pPr algn="l"/>
            <a:r>
              <a:rPr sz="1000" b="0" i="0">
                <a:solidFill>
                  <a:srgbClr val="FFFFFF"/>
                </a:solidFill>
                <a:latin typeface="Calibri"/>
              </a:rPr>
              <a:t>europarl</a:t>
            </a:r>
          </a:p>
        </p:txBody>
      </p:sp>
      <p:sp>
        <p:nvSpPr>
          <p:cNvPr id="38" name="Rectangle 37"/>
          <p:cNvSpPr/>
          <p:nvPr/>
        </p:nvSpPr>
        <p:spPr>
          <a:xfrm>
            <a:off x="2834640" y="2400300"/>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98648" y="2436876"/>
            <a:ext cx="2852928" cy="242316"/>
          </a:xfrm>
          <a:prstGeom prst="rect">
            <a:avLst/>
          </a:prstGeom>
          <a:noFill/>
        </p:spPr>
        <p:txBody>
          <a:bodyPr wrap="square"/>
          <a:lstStyle/>
          <a:p>
            <a:pPr algn="l"/>
            <a:r>
              <a:rPr sz="1000" b="0" i="0">
                <a:solidFill>
                  <a:srgbClr val="CCD6E8"/>
                </a:solidFill>
                <a:latin typeface="Calibri"/>
              </a:rPr>
              <a:t>Parliamentary proceedings</a:t>
            </a:r>
          </a:p>
        </p:txBody>
      </p:sp>
      <p:sp>
        <p:nvSpPr>
          <p:cNvPr id="40" name="Rectangle 39"/>
          <p:cNvSpPr/>
          <p:nvPr/>
        </p:nvSpPr>
        <p:spPr>
          <a:xfrm>
            <a:off x="5760720" y="2400300"/>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24728" y="2436876"/>
            <a:ext cx="749808" cy="242316"/>
          </a:xfrm>
          <a:prstGeom prst="rect">
            <a:avLst/>
          </a:prstGeom>
          <a:noFill/>
        </p:spPr>
        <p:txBody>
          <a:bodyPr wrap="square"/>
          <a:lstStyle/>
          <a:p>
            <a:pPr algn="l"/>
            <a:r>
              <a:rPr sz="1000" b="0" i="0">
                <a:solidFill>
                  <a:srgbClr val="CCD6E8"/>
                </a:solidFill>
                <a:latin typeface="Calibri"/>
              </a:rPr>
              <a:t>13</a:t>
            </a:r>
          </a:p>
        </p:txBody>
      </p:sp>
      <p:sp>
        <p:nvSpPr>
          <p:cNvPr id="42" name="Rectangle 41"/>
          <p:cNvSpPr/>
          <p:nvPr/>
        </p:nvSpPr>
        <p:spPr>
          <a:xfrm>
            <a:off x="502920" y="2679192"/>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2715768"/>
            <a:ext cx="2258568" cy="242316"/>
          </a:xfrm>
          <a:prstGeom prst="rect">
            <a:avLst/>
          </a:prstGeom>
          <a:noFill/>
        </p:spPr>
        <p:txBody>
          <a:bodyPr wrap="square"/>
          <a:lstStyle/>
          <a:p>
            <a:pPr algn="l"/>
            <a:r>
              <a:rPr sz="1000" b="0" i="0">
                <a:solidFill>
                  <a:srgbClr val="FFFFFF"/>
                </a:solidFill>
                <a:latin typeface="Calibri"/>
              </a:rPr>
              <a:t>amazon_reviews_multi</a:t>
            </a:r>
          </a:p>
        </p:txBody>
      </p:sp>
      <p:sp>
        <p:nvSpPr>
          <p:cNvPr id="44" name="Rectangle 43"/>
          <p:cNvSpPr/>
          <p:nvPr/>
        </p:nvSpPr>
        <p:spPr>
          <a:xfrm>
            <a:off x="2834640" y="2679192"/>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898648" y="2715768"/>
            <a:ext cx="2852928" cy="242316"/>
          </a:xfrm>
          <a:prstGeom prst="rect">
            <a:avLst/>
          </a:prstGeom>
          <a:noFill/>
        </p:spPr>
        <p:txBody>
          <a:bodyPr wrap="square"/>
          <a:lstStyle/>
          <a:p>
            <a:pPr algn="l"/>
            <a:r>
              <a:rPr sz="1000" b="0" i="0">
                <a:solidFill>
                  <a:srgbClr val="CCD6E8"/>
                </a:solidFill>
                <a:latin typeface="Calibri"/>
              </a:rPr>
              <a:t>E-commerce reviews</a:t>
            </a:r>
          </a:p>
        </p:txBody>
      </p:sp>
      <p:sp>
        <p:nvSpPr>
          <p:cNvPr id="46" name="Rectangle 45"/>
          <p:cNvSpPr/>
          <p:nvPr/>
        </p:nvSpPr>
        <p:spPr>
          <a:xfrm>
            <a:off x="5760720" y="2679192"/>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24728" y="2715768"/>
            <a:ext cx="749808" cy="242316"/>
          </a:xfrm>
          <a:prstGeom prst="rect">
            <a:avLst/>
          </a:prstGeom>
          <a:noFill/>
        </p:spPr>
        <p:txBody>
          <a:bodyPr wrap="square"/>
          <a:lstStyle/>
          <a:p>
            <a:pPr algn="l"/>
            <a:r>
              <a:rPr sz="1000" b="0" i="0">
                <a:solidFill>
                  <a:srgbClr val="CCD6E8"/>
                </a:solidFill>
                <a:latin typeface="Calibri"/>
              </a:rPr>
              <a:t>6</a:t>
            </a:r>
          </a:p>
        </p:txBody>
      </p:sp>
      <p:sp>
        <p:nvSpPr>
          <p:cNvPr id="48" name="Rectangle 47"/>
          <p:cNvSpPr/>
          <p:nvPr/>
        </p:nvSpPr>
        <p:spPr>
          <a:xfrm>
            <a:off x="502920" y="2958084"/>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66928" y="2994660"/>
            <a:ext cx="2258568" cy="242316"/>
          </a:xfrm>
          <a:prstGeom prst="rect">
            <a:avLst/>
          </a:prstGeom>
          <a:noFill/>
        </p:spPr>
        <p:txBody>
          <a:bodyPr wrap="square"/>
          <a:lstStyle/>
          <a:p>
            <a:pPr algn="l"/>
            <a:r>
              <a:rPr sz="1000" b="0" i="0">
                <a:solidFill>
                  <a:srgbClr val="FFFFFF"/>
                </a:solidFill>
                <a:latin typeface="Calibri"/>
              </a:rPr>
              <a:t>multilingual_cc_news</a:t>
            </a:r>
          </a:p>
        </p:txBody>
      </p:sp>
      <p:sp>
        <p:nvSpPr>
          <p:cNvPr id="50" name="Rectangle 49"/>
          <p:cNvSpPr/>
          <p:nvPr/>
        </p:nvSpPr>
        <p:spPr>
          <a:xfrm>
            <a:off x="2834640" y="2958084"/>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898648" y="2994660"/>
            <a:ext cx="2852928" cy="242316"/>
          </a:xfrm>
          <a:prstGeom prst="rect">
            <a:avLst/>
          </a:prstGeom>
          <a:noFill/>
        </p:spPr>
        <p:txBody>
          <a:bodyPr wrap="square"/>
          <a:lstStyle/>
          <a:p>
            <a:pPr algn="l"/>
            <a:r>
              <a:rPr sz="1000" b="0" i="0">
                <a:solidFill>
                  <a:srgbClr val="CCD6E8"/>
                </a:solidFill>
                <a:latin typeface="Calibri"/>
              </a:rPr>
              <a:t>News articles</a:t>
            </a:r>
          </a:p>
        </p:txBody>
      </p:sp>
      <p:sp>
        <p:nvSpPr>
          <p:cNvPr id="52" name="Rectangle 51"/>
          <p:cNvSpPr/>
          <p:nvPr/>
        </p:nvSpPr>
        <p:spPr>
          <a:xfrm>
            <a:off x="5760720" y="2958084"/>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824728" y="2994660"/>
            <a:ext cx="749808" cy="242316"/>
          </a:xfrm>
          <a:prstGeom prst="rect">
            <a:avLst/>
          </a:prstGeom>
          <a:noFill/>
        </p:spPr>
        <p:txBody>
          <a:bodyPr wrap="square"/>
          <a:lstStyle/>
          <a:p>
            <a:pPr algn="l"/>
            <a:r>
              <a:rPr sz="1000" b="0" i="0">
                <a:solidFill>
                  <a:srgbClr val="CCD6E8"/>
                </a:solidFill>
                <a:latin typeface="Calibri"/>
              </a:rPr>
              <a:t>21</a:t>
            </a:r>
          </a:p>
        </p:txBody>
      </p:sp>
      <p:sp>
        <p:nvSpPr>
          <p:cNvPr id="54" name="Rectangle 53"/>
          <p:cNvSpPr/>
          <p:nvPr/>
        </p:nvSpPr>
        <p:spPr>
          <a:xfrm>
            <a:off x="502920" y="3236976"/>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66928" y="3273552"/>
            <a:ext cx="2258568" cy="242316"/>
          </a:xfrm>
          <a:prstGeom prst="rect">
            <a:avLst/>
          </a:prstGeom>
          <a:noFill/>
        </p:spPr>
        <p:txBody>
          <a:bodyPr wrap="square"/>
          <a:lstStyle/>
          <a:p>
            <a:pPr algn="l"/>
            <a:r>
              <a:rPr sz="1000" b="0" i="0">
                <a:solidFill>
                  <a:srgbClr val="FFFFFF"/>
                </a:solidFill>
                <a:latin typeface="Calibri"/>
              </a:rPr>
              <a:t>tweet_sentiment_multi</a:t>
            </a:r>
          </a:p>
        </p:txBody>
      </p:sp>
      <p:sp>
        <p:nvSpPr>
          <p:cNvPr id="56" name="Rectangle 55"/>
          <p:cNvSpPr/>
          <p:nvPr/>
        </p:nvSpPr>
        <p:spPr>
          <a:xfrm>
            <a:off x="2834640" y="3236976"/>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898648" y="3273552"/>
            <a:ext cx="2852928" cy="242316"/>
          </a:xfrm>
          <a:prstGeom prst="rect">
            <a:avLst/>
          </a:prstGeom>
          <a:noFill/>
        </p:spPr>
        <p:txBody>
          <a:bodyPr wrap="square"/>
          <a:lstStyle/>
          <a:p>
            <a:pPr algn="l"/>
            <a:r>
              <a:rPr sz="1000" b="0" i="0">
                <a:solidFill>
                  <a:srgbClr val="CCD6E8"/>
                </a:solidFill>
                <a:latin typeface="Calibri"/>
              </a:rPr>
              <a:t>Twitter sentiment</a:t>
            </a:r>
          </a:p>
        </p:txBody>
      </p:sp>
      <p:sp>
        <p:nvSpPr>
          <p:cNvPr id="58" name="Rectangle 57"/>
          <p:cNvSpPr/>
          <p:nvPr/>
        </p:nvSpPr>
        <p:spPr>
          <a:xfrm>
            <a:off x="5760720" y="3236976"/>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824728" y="3273552"/>
            <a:ext cx="749808" cy="242316"/>
          </a:xfrm>
          <a:prstGeom prst="rect">
            <a:avLst/>
          </a:prstGeom>
          <a:noFill/>
        </p:spPr>
        <p:txBody>
          <a:bodyPr wrap="square"/>
          <a:lstStyle/>
          <a:p>
            <a:pPr algn="l"/>
            <a:r>
              <a:rPr sz="1000" b="0" i="0">
                <a:solidFill>
                  <a:srgbClr val="CCD6E8"/>
                </a:solidFill>
                <a:latin typeface="Calibri"/>
              </a:rPr>
              <a:t>6</a:t>
            </a:r>
          </a:p>
        </p:txBody>
      </p:sp>
      <p:sp>
        <p:nvSpPr>
          <p:cNvPr id="60" name="Rectangle 59"/>
          <p:cNvSpPr/>
          <p:nvPr/>
        </p:nvSpPr>
        <p:spPr>
          <a:xfrm>
            <a:off x="502920" y="3515868"/>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66928" y="3552444"/>
            <a:ext cx="2258568" cy="242316"/>
          </a:xfrm>
          <a:prstGeom prst="rect">
            <a:avLst/>
          </a:prstGeom>
          <a:noFill/>
        </p:spPr>
        <p:txBody>
          <a:bodyPr wrap="square"/>
          <a:lstStyle/>
          <a:p>
            <a:pPr algn="l"/>
            <a:r>
              <a:rPr sz="1000" b="0" i="0">
                <a:solidFill>
                  <a:srgbClr val="FFFFFF"/>
                </a:solidFill>
                <a:latin typeface="Calibri"/>
              </a:rPr>
              <a:t>massive</a:t>
            </a:r>
          </a:p>
        </p:txBody>
      </p:sp>
      <p:sp>
        <p:nvSpPr>
          <p:cNvPr id="62" name="Rectangle 61"/>
          <p:cNvSpPr/>
          <p:nvPr/>
        </p:nvSpPr>
        <p:spPr>
          <a:xfrm>
            <a:off x="2834640" y="3515868"/>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898648" y="3552444"/>
            <a:ext cx="2852928" cy="242316"/>
          </a:xfrm>
          <a:prstGeom prst="rect">
            <a:avLst/>
          </a:prstGeom>
          <a:noFill/>
        </p:spPr>
        <p:txBody>
          <a:bodyPr wrap="square"/>
          <a:lstStyle/>
          <a:p>
            <a:pPr algn="l"/>
            <a:r>
              <a:rPr sz="1000" b="0" i="0">
                <a:solidFill>
                  <a:srgbClr val="CCD6E8"/>
                </a:solidFill>
                <a:latin typeface="Calibri"/>
              </a:rPr>
              <a:t>Virtual assistant utterances</a:t>
            </a:r>
          </a:p>
        </p:txBody>
      </p:sp>
      <p:sp>
        <p:nvSpPr>
          <p:cNvPr id="64" name="Rectangle 63"/>
          <p:cNvSpPr/>
          <p:nvPr/>
        </p:nvSpPr>
        <p:spPr>
          <a:xfrm>
            <a:off x="5760720" y="3515868"/>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824728" y="3552444"/>
            <a:ext cx="749808" cy="242316"/>
          </a:xfrm>
          <a:prstGeom prst="rect">
            <a:avLst/>
          </a:prstGeom>
          <a:noFill/>
        </p:spPr>
        <p:txBody>
          <a:bodyPr wrap="square"/>
          <a:lstStyle/>
          <a:p>
            <a:pPr algn="l"/>
            <a:r>
              <a:rPr sz="1000" b="0" i="0">
                <a:solidFill>
                  <a:srgbClr val="CCD6E8"/>
                </a:solidFill>
                <a:latin typeface="Calibri"/>
              </a:rPr>
              <a:t>18</a:t>
            </a:r>
          </a:p>
        </p:txBody>
      </p:sp>
      <p:sp>
        <p:nvSpPr>
          <p:cNvPr id="66" name="Rectangle 65"/>
          <p:cNvSpPr/>
          <p:nvPr/>
        </p:nvSpPr>
        <p:spPr>
          <a:xfrm>
            <a:off x="502920" y="3794760"/>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66928" y="3831336"/>
            <a:ext cx="2258568" cy="242316"/>
          </a:xfrm>
          <a:prstGeom prst="rect">
            <a:avLst/>
          </a:prstGeom>
          <a:noFill/>
        </p:spPr>
        <p:txBody>
          <a:bodyPr wrap="square"/>
          <a:lstStyle/>
          <a:p>
            <a:pPr algn="l"/>
            <a:r>
              <a:rPr sz="1000" b="0" i="0">
                <a:solidFill>
                  <a:srgbClr val="FFFFFF"/>
                </a:solidFill>
                <a:latin typeface="Calibri"/>
              </a:rPr>
              <a:t>mmarco</a:t>
            </a:r>
          </a:p>
        </p:txBody>
      </p:sp>
      <p:sp>
        <p:nvSpPr>
          <p:cNvPr id="68" name="Rectangle 67"/>
          <p:cNvSpPr/>
          <p:nvPr/>
        </p:nvSpPr>
        <p:spPr>
          <a:xfrm>
            <a:off x="2834640" y="3794760"/>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898648" y="3831336"/>
            <a:ext cx="2852928" cy="242316"/>
          </a:xfrm>
          <a:prstGeom prst="rect">
            <a:avLst/>
          </a:prstGeom>
          <a:noFill/>
        </p:spPr>
        <p:txBody>
          <a:bodyPr wrap="square"/>
          <a:lstStyle/>
          <a:p>
            <a:pPr algn="l"/>
            <a:r>
              <a:rPr sz="1000" b="0" i="0">
                <a:solidFill>
                  <a:srgbClr val="CCD6E8"/>
                </a:solidFill>
                <a:latin typeface="Calibri"/>
              </a:rPr>
              <a:t>Machine-translated MS MARCO</a:t>
            </a:r>
          </a:p>
        </p:txBody>
      </p:sp>
      <p:sp>
        <p:nvSpPr>
          <p:cNvPr id="70" name="Rectangle 69"/>
          <p:cNvSpPr/>
          <p:nvPr/>
        </p:nvSpPr>
        <p:spPr>
          <a:xfrm>
            <a:off x="5760720" y="3794760"/>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824728" y="3831336"/>
            <a:ext cx="749808" cy="242316"/>
          </a:xfrm>
          <a:prstGeom prst="rect">
            <a:avLst/>
          </a:prstGeom>
          <a:noFill/>
        </p:spPr>
        <p:txBody>
          <a:bodyPr wrap="square"/>
          <a:lstStyle/>
          <a:p>
            <a:pPr algn="l"/>
            <a:r>
              <a:rPr sz="1000" b="0" i="0">
                <a:solidFill>
                  <a:srgbClr val="CCD6E8"/>
                </a:solidFill>
                <a:latin typeface="Calibri"/>
              </a:rPr>
              <a:t>10</a:t>
            </a:r>
          </a:p>
        </p:txBody>
      </p:sp>
      <p:sp>
        <p:nvSpPr>
          <p:cNvPr id="72" name="Rectangle 71"/>
          <p:cNvSpPr/>
          <p:nvPr/>
        </p:nvSpPr>
        <p:spPr>
          <a:xfrm>
            <a:off x="502920" y="4073652"/>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66928" y="4110228"/>
            <a:ext cx="2258568" cy="242316"/>
          </a:xfrm>
          <a:prstGeom prst="rect">
            <a:avLst/>
          </a:prstGeom>
          <a:noFill/>
        </p:spPr>
        <p:txBody>
          <a:bodyPr wrap="square"/>
          <a:lstStyle/>
          <a:p>
            <a:pPr algn="l"/>
            <a:r>
              <a:rPr sz="1000" b="0" i="0">
                <a:solidFill>
                  <a:srgbClr val="FFFFFF"/>
                </a:solidFill>
                <a:latin typeface="Calibri"/>
              </a:rPr>
              <a:t>multi_eurlex</a:t>
            </a:r>
          </a:p>
        </p:txBody>
      </p:sp>
      <p:sp>
        <p:nvSpPr>
          <p:cNvPr id="74" name="Rectangle 73"/>
          <p:cNvSpPr/>
          <p:nvPr/>
        </p:nvSpPr>
        <p:spPr>
          <a:xfrm>
            <a:off x="2834640" y="4073652"/>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898648" y="4110228"/>
            <a:ext cx="2852928" cy="242316"/>
          </a:xfrm>
          <a:prstGeom prst="rect">
            <a:avLst/>
          </a:prstGeom>
          <a:noFill/>
        </p:spPr>
        <p:txBody>
          <a:bodyPr wrap="square"/>
          <a:lstStyle/>
          <a:p>
            <a:pPr algn="l"/>
            <a:r>
              <a:rPr sz="1000" b="0" i="0">
                <a:solidFill>
                  <a:srgbClr val="CCD6E8"/>
                </a:solidFill>
                <a:latin typeface="Calibri"/>
              </a:rPr>
              <a:t>EU legislation</a:t>
            </a:r>
          </a:p>
        </p:txBody>
      </p:sp>
      <p:sp>
        <p:nvSpPr>
          <p:cNvPr id="76" name="Rectangle 75"/>
          <p:cNvSpPr/>
          <p:nvPr/>
        </p:nvSpPr>
        <p:spPr>
          <a:xfrm>
            <a:off x="5760720" y="4073652"/>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824728" y="4110228"/>
            <a:ext cx="749808" cy="242316"/>
          </a:xfrm>
          <a:prstGeom prst="rect">
            <a:avLst/>
          </a:prstGeom>
          <a:noFill/>
        </p:spPr>
        <p:txBody>
          <a:bodyPr wrap="square"/>
          <a:lstStyle/>
          <a:p>
            <a:pPr algn="l"/>
            <a:r>
              <a:rPr sz="1000" b="0" i="0">
                <a:solidFill>
                  <a:srgbClr val="CCD6E8"/>
                </a:solidFill>
                <a:latin typeface="Calibri"/>
              </a:rPr>
              <a:t>16</a:t>
            </a:r>
          </a:p>
        </p:txBody>
      </p:sp>
      <p:sp>
        <p:nvSpPr>
          <p:cNvPr id="78" name="Rectangle 77"/>
          <p:cNvSpPr/>
          <p:nvPr/>
        </p:nvSpPr>
        <p:spPr>
          <a:xfrm>
            <a:off x="502920" y="4352544"/>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66928" y="4389120"/>
            <a:ext cx="2258568" cy="242316"/>
          </a:xfrm>
          <a:prstGeom prst="rect">
            <a:avLst/>
          </a:prstGeom>
          <a:noFill/>
        </p:spPr>
        <p:txBody>
          <a:bodyPr wrap="square"/>
          <a:lstStyle/>
          <a:p>
            <a:pPr algn="l"/>
            <a:r>
              <a:rPr sz="1000" b="0" i="0">
                <a:solidFill>
                  <a:srgbClr val="FFFFFF"/>
                </a:solidFill>
                <a:latin typeface="Calibri"/>
              </a:rPr>
              <a:t>multilingual_toxicity</a:t>
            </a:r>
          </a:p>
        </p:txBody>
      </p:sp>
      <p:sp>
        <p:nvSpPr>
          <p:cNvPr id="80" name="Rectangle 79"/>
          <p:cNvSpPr/>
          <p:nvPr/>
        </p:nvSpPr>
        <p:spPr>
          <a:xfrm>
            <a:off x="2834640" y="4352544"/>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898648" y="4389120"/>
            <a:ext cx="2852928" cy="242316"/>
          </a:xfrm>
          <a:prstGeom prst="rect">
            <a:avLst/>
          </a:prstGeom>
          <a:noFill/>
        </p:spPr>
        <p:txBody>
          <a:bodyPr wrap="square"/>
          <a:lstStyle/>
          <a:p>
            <a:pPr algn="l"/>
            <a:r>
              <a:rPr sz="1000" b="0" i="0">
                <a:solidFill>
                  <a:srgbClr val="CCD6E8"/>
                </a:solidFill>
                <a:latin typeface="Calibri"/>
              </a:rPr>
              <a:t>Toxicity detection</a:t>
            </a:r>
          </a:p>
        </p:txBody>
      </p:sp>
      <p:sp>
        <p:nvSpPr>
          <p:cNvPr id="82" name="Rectangle 81"/>
          <p:cNvSpPr/>
          <p:nvPr/>
        </p:nvSpPr>
        <p:spPr>
          <a:xfrm>
            <a:off x="5760720" y="4352544"/>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824728" y="4389120"/>
            <a:ext cx="749808" cy="242316"/>
          </a:xfrm>
          <a:prstGeom prst="rect">
            <a:avLst/>
          </a:prstGeom>
          <a:noFill/>
        </p:spPr>
        <p:txBody>
          <a:bodyPr wrap="square"/>
          <a:lstStyle/>
          <a:p>
            <a:pPr algn="l"/>
            <a:r>
              <a:rPr sz="1000" b="0" i="0">
                <a:solidFill>
                  <a:srgbClr val="CCD6E8"/>
                </a:solidFill>
                <a:latin typeface="Calibri"/>
              </a:rPr>
              <a:t>9</a:t>
            </a:r>
          </a:p>
        </p:txBody>
      </p:sp>
      <p:sp>
        <p:nvSpPr>
          <p:cNvPr id="84" name="Rectangle 83"/>
          <p:cNvSpPr/>
          <p:nvPr/>
        </p:nvSpPr>
        <p:spPr>
          <a:xfrm>
            <a:off x="502920" y="4631436"/>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66928" y="4668012"/>
            <a:ext cx="2258568" cy="242316"/>
          </a:xfrm>
          <a:prstGeom prst="rect">
            <a:avLst/>
          </a:prstGeom>
          <a:noFill/>
        </p:spPr>
        <p:txBody>
          <a:bodyPr wrap="square"/>
          <a:lstStyle/>
          <a:p>
            <a:pPr algn="l"/>
            <a:r>
              <a:rPr sz="1000" b="0" i="0">
                <a:solidFill>
                  <a:srgbClr val="FFFFFF"/>
                </a:solidFill>
                <a:latin typeface="Calibri"/>
              </a:rPr>
              <a:t>stsb_multi_mt</a:t>
            </a:r>
          </a:p>
        </p:txBody>
      </p:sp>
      <p:sp>
        <p:nvSpPr>
          <p:cNvPr id="86" name="Rectangle 85"/>
          <p:cNvSpPr/>
          <p:nvPr/>
        </p:nvSpPr>
        <p:spPr>
          <a:xfrm>
            <a:off x="2834640" y="4631436"/>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898648" y="4668012"/>
            <a:ext cx="2852928" cy="242316"/>
          </a:xfrm>
          <a:prstGeom prst="rect">
            <a:avLst/>
          </a:prstGeom>
          <a:noFill/>
        </p:spPr>
        <p:txBody>
          <a:bodyPr wrap="square"/>
          <a:lstStyle/>
          <a:p>
            <a:pPr algn="l"/>
            <a:r>
              <a:rPr sz="1000" b="0" i="0">
                <a:solidFill>
                  <a:srgbClr val="CCD6E8"/>
                </a:solidFill>
                <a:latin typeface="Calibri"/>
              </a:rPr>
              <a:t>Sentence similarity</a:t>
            </a:r>
          </a:p>
        </p:txBody>
      </p:sp>
      <p:sp>
        <p:nvSpPr>
          <p:cNvPr id="88" name="Rectangle 87"/>
          <p:cNvSpPr/>
          <p:nvPr/>
        </p:nvSpPr>
        <p:spPr>
          <a:xfrm>
            <a:off x="5760720" y="4631436"/>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824728" y="4668012"/>
            <a:ext cx="749808" cy="242316"/>
          </a:xfrm>
          <a:prstGeom prst="rect">
            <a:avLst/>
          </a:prstGeom>
          <a:noFill/>
        </p:spPr>
        <p:txBody>
          <a:bodyPr wrap="square"/>
          <a:lstStyle/>
          <a:p>
            <a:pPr algn="l"/>
            <a:r>
              <a:rPr sz="1000" b="0" i="0">
                <a:solidFill>
                  <a:srgbClr val="CCD6E8"/>
                </a:solidFill>
                <a:latin typeface="Calibri"/>
              </a:rPr>
              <a:t>10</a:t>
            </a:r>
          </a:p>
        </p:txBody>
      </p:sp>
      <p:sp>
        <p:nvSpPr>
          <p:cNvPr id="90" name="Rectangle 89"/>
          <p:cNvSpPr/>
          <p:nvPr/>
        </p:nvSpPr>
        <p:spPr>
          <a:xfrm>
            <a:off x="502920" y="4910328"/>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66928" y="4946904"/>
            <a:ext cx="2258568" cy="242316"/>
          </a:xfrm>
          <a:prstGeom prst="rect">
            <a:avLst/>
          </a:prstGeom>
          <a:noFill/>
        </p:spPr>
        <p:txBody>
          <a:bodyPr wrap="square"/>
          <a:lstStyle/>
          <a:p>
            <a:pPr algn="l"/>
            <a:r>
              <a:rPr sz="1000" b="0" i="0">
                <a:solidFill>
                  <a:srgbClr val="FFFFFF"/>
                </a:solidFill>
                <a:latin typeface="Calibri"/>
              </a:rPr>
              <a:t>tydiqa</a:t>
            </a:r>
          </a:p>
        </p:txBody>
      </p:sp>
      <p:sp>
        <p:nvSpPr>
          <p:cNvPr id="92" name="Rectangle 91"/>
          <p:cNvSpPr/>
          <p:nvPr/>
        </p:nvSpPr>
        <p:spPr>
          <a:xfrm>
            <a:off x="2834640" y="4910328"/>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898648" y="4946904"/>
            <a:ext cx="2852928" cy="242316"/>
          </a:xfrm>
          <a:prstGeom prst="rect">
            <a:avLst/>
          </a:prstGeom>
          <a:noFill/>
        </p:spPr>
        <p:txBody>
          <a:bodyPr wrap="square"/>
          <a:lstStyle/>
          <a:p>
            <a:pPr algn="l"/>
            <a:r>
              <a:rPr sz="1000" b="0" i="0">
                <a:solidFill>
                  <a:srgbClr val="CCD6E8"/>
                </a:solidFill>
                <a:latin typeface="Calibri"/>
              </a:rPr>
              <a:t>Information-seeking QA</a:t>
            </a:r>
          </a:p>
        </p:txBody>
      </p:sp>
      <p:sp>
        <p:nvSpPr>
          <p:cNvPr id="94" name="Rectangle 93"/>
          <p:cNvSpPr/>
          <p:nvPr/>
        </p:nvSpPr>
        <p:spPr>
          <a:xfrm>
            <a:off x="5760720" y="4910328"/>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5824728" y="4946904"/>
            <a:ext cx="749808" cy="242316"/>
          </a:xfrm>
          <a:prstGeom prst="rect">
            <a:avLst/>
          </a:prstGeom>
          <a:noFill/>
        </p:spPr>
        <p:txBody>
          <a:bodyPr wrap="square"/>
          <a:lstStyle/>
          <a:p>
            <a:pPr algn="l"/>
            <a:r>
              <a:rPr sz="1000" b="0" i="0">
                <a:solidFill>
                  <a:srgbClr val="CCD6E8"/>
                </a:solidFill>
                <a:latin typeface="Calibri"/>
              </a:rPr>
              <a:t>5</a:t>
            </a:r>
          </a:p>
        </p:txBody>
      </p:sp>
      <p:sp>
        <p:nvSpPr>
          <p:cNvPr id="96" name="Rectangle 95"/>
          <p:cNvSpPr/>
          <p:nvPr/>
        </p:nvSpPr>
        <p:spPr>
          <a:xfrm>
            <a:off x="502920" y="5189220"/>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566928" y="5225796"/>
            <a:ext cx="2258568" cy="242316"/>
          </a:xfrm>
          <a:prstGeom prst="rect">
            <a:avLst/>
          </a:prstGeom>
          <a:noFill/>
        </p:spPr>
        <p:txBody>
          <a:bodyPr wrap="square"/>
          <a:lstStyle/>
          <a:p>
            <a:pPr algn="l"/>
            <a:r>
              <a:rPr sz="1000" b="0" i="0">
                <a:solidFill>
                  <a:srgbClr val="FFFFFF"/>
                </a:solidFill>
                <a:latin typeface="Calibri"/>
              </a:rPr>
              <a:t>xlsum</a:t>
            </a:r>
          </a:p>
        </p:txBody>
      </p:sp>
      <p:sp>
        <p:nvSpPr>
          <p:cNvPr id="98" name="Rectangle 97"/>
          <p:cNvSpPr/>
          <p:nvPr/>
        </p:nvSpPr>
        <p:spPr>
          <a:xfrm>
            <a:off x="2834640" y="5189220"/>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898648" y="5225796"/>
            <a:ext cx="2852928" cy="242316"/>
          </a:xfrm>
          <a:prstGeom prst="rect">
            <a:avLst/>
          </a:prstGeom>
          <a:noFill/>
        </p:spPr>
        <p:txBody>
          <a:bodyPr wrap="square"/>
          <a:lstStyle/>
          <a:p>
            <a:pPr algn="l"/>
            <a:r>
              <a:rPr sz="1000" b="0" i="0">
                <a:solidFill>
                  <a:srgbClr val="CCD6E8"/>
                </a:solidFill>
                <a:latin typeface="Calibri"/>
              </a:rPr>
              <a:t>News summarisation</a:t>
            </a:r>
          </a:p>
        </p:txBody>
      </p:sp>
      <p:sp>
        <p:nvSpPr>
          <p:cNvPr id="100" name="Rectangle 99"/>
          <p:cNvSpPr/>
          <p:nvPr/>
        </p:nvSpPr>
        <p:spPr>
          <a:xfrm>
            <a:off x="5760720" y="5189220"/>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5824728" y="5225796"/>
            <a:ext cx="749808" cy="242316"/>
          </a:xfrm>
          <a:prstGeom prst="rect">
            <a:avLst/>
          </a:prstGeom>
          <a:noFill/>
        </p:spPr>
        <p:txBody>
          <a:bodyPr wrap="square"/>
          <a:lstStyle/>
          <a:p>
            <a:pPr algn="l"/>
            <a:r>
              <a:rPr sz="1000" b="0" i="0">
                <a:solidFill>
                  <a:srgbClr val="CCD6E8"/>
                </a:solidFill>
                <a:latin typeface="Calibri"/>
              </a:rPr>
              <a:t>9</a:t>
            </a:r>
          </a:p>
        </p:txBody>
      </p:sp>
      <p:sp>
        <p:nvSpPr>
          <p:cNvPr id="102" name="Rectangle 101"/>
          <p:cNvSpPr/>
          <p:nvPr/>
        </p:nvSpPr>
        <p:spPr>
          <a:xfrm>
            <a:off x="502920" y="5468112"/>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66928" y="5504688"/>
            <a:ext cx="2258568" cy="242316"/>
          </a:xfrm>
          <a:prstGeom prst="rect">
            <a:avLst/>
          </a:prstGeom>
          <a:noFill/>
        </p:spPr>
        <p:txBody>
          <a:bodyPr wrap="square"/>
          <a:lstStyle/>
          <a:p>
            <a:pPr algn="l"/>
            <a:r>
              <a:rPr sz="1000" b="0" i="0">
                <a:solidFill>
                  <a:srgbClr val="FFFFFF"/>
                </a:solidFill>
                <a:latin typeface="Calibri"/>
              </a:rPr>
              <a:t>xnli</a:t>
            </a:r>
          </a:p>
        </p:txBody>
      </p:sp>
      <p:sp>
        <p:nvSpPr>
          <p:cNvPr id="104" name="Rectangle 103"/>
          <p:cNvSpPr/>
          <p:nvPr/>
        </p:nvSpPr>
        <p:spPr>
          <a:xfrm>
            <a:off x="2834640" y="5468112"/>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898648" y="5504688"/>
            <a:ext cx="2852928" cy="242316"/>
          </a:xfrm>
          <a:prstGeom prst="rect">
            <a:avLst/>
          </a:prstGeom>
          <a:noFill/>
        </p:spPr>
        <p:txBody>
          <a:bodyPr wrap="square"/>
          <a:lstStyle/>
          <a:p>
            <a:pPr algn="l"/>
            <a:r>
              <a:rPr sz="1000" b="0" i="0">
                <a:solidFill>
                  <a:srgbClr val="CCD6E8"/>
                </a:solidFill>
                <a:latin typeface="Calibri"/>
              </a:rPr>
              <a:t>Natural language inference</a:t>
            </a:r>
          </a:p>
        </p:txBody>
      </p:sp>
      <p:sp>
        <p:nvSpPr>
          <p:cNvPr id="106" name="Rectangle 105"/>
          <p:cNvSpPr/>
          <p:nvPr/>
        </p:nvSpPr>
        <p:spPr>
          <a:xfrm>
            <a:off x="5760720" y="5468112"/>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824728" y="5504688"/>
            <a:ext cx="749808" cy="242316"/>
          </a:xfrm>
          <a:prstGeom prst="rect">
            <a:avLst/>
          </a:prstGeom>
          <a:noFill/>
        </p:spPr>
        <p:txBody>
          <a:bodyPr wrap="square"/>
          <a:lstStyle/>
          <a:p>
            <a:pPr algn="l"/>
            <a:r>
              <a:rPr sz="1000" b="0" i="0">
                <a:solidFill>
                  <a:srgbClr val="CCD6E8"/>
                </a:solidFill>
                <a:latin typeface="Calibri"/>
              </a:rPr>
              <a:t>7</a:t>
            </a:r>
          </a:p>
        </p:txBody>
      </p:sp>
      <p:sp>
        <p:nvSpPr>
          <p:cNvPr id="110" name="Rectangle 109"/>
          <p:cNvSpPr/>
          <p:nvPr/>
        </p:nvSpPr>
        <p:spPr>
          <a:xfrm>
            <a:off x="2834640" y="5747004"/>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5760720" y="5747004"/>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7635240" y="1005840"/>
            <a:ext cx="4160520" cy="56235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7772400" y="1078992"/>
            <a:ext cx="3886200" cy="5486400"/>
          </a:xfrm>
          <a:prstGeom prst="rect">
            <a:avLst/>
          </a:prstGeom>
          <a:noFill/>
        </p:spPr>
        <p:txBody>
          <a:bodyPr wrap="square">
            <a:spAutoFit/>
          </a:bodyPr>
          <a:lstStyle/>
          <a:p>
            <a:pPr algn="l"/>
            <a:r>
              <a:rPr sz="1300" b="1" i="0" dirty="0">
                <a:solidFill>
                  <a:srgbClr val="F5A623"/>
                </a:solidFill>
                <a:latin typeface="Calibri"/>
              </a:rPr>
              <a:t>24 Supported ISO 639-1 Codes</a:t>
            </a:r>
          </a:p>
          <a:p>
            <a:pPr algn="l"/>
            <a:endParaRPr sz="1300" b="1" i="0" dirty="0">
              <a:solidFill>
                <a:srgbClr val="F5A623"/>
              </a:solidFill>
              <a:latin typeface="Calibri"/>
            </a:endParaRPr>
          </a:p>
          <a:p>
            <a:pPr algn="l"/>
            <a:r>
              <a:rPr sz="1100" b="0" i="1" dirty="0" err="1">
                <a:solidFill>
                  <a:srgbClr val="FFFFFF"/>
                </a:solidFill>
                <a:latin typeface="Calibri"/>
              </a:rPr>
              <a:t>en</a:t>
            </a:r>
            <a:r>
              <a:rPr sz="1100" b="0" i="1" dirty="0">
                <a:solidFill>
                  <a:srgbClr val="FFFFFF"/>
                </a:solidFill>
                <a:latin typeface="Calibri"/>
              </a:rPr>
              <a:t>  ca  </a:t>
            </a:r>
            <a:r>
              <a:rPr sz="1100" b="0" i="1" dirty="0" err="1">
                <a:solidFill>
                  <a:srgbClr val="FFFFFF"/>
                </a:solidFill>
                <a:latin typeface="Calibri"/>
              </a:rPr>
              <a:t>zh</a:t>
            </a:r>
            <a:r>
              <a:rPr sz="1100" b="0" i="1" dirty="0">
                <a:solidFill>
                  <a:srgbClr val="FFFFFF"/>
                </a:solidFill>
                <a:latin typeface="Calibri"/>
              </a:rPr>
              <a:t>  </a:t>
            </a:r>
            <a:r>
              <a:rPr sz="1100" b="0" i="1" dirty="0" err="1">
                <a:solidFill>
                  <a:srgbClr val="FFFFFF"/>
                </a:solidFill>
                <a:latin typeface="Calibri"/>
              </a:rPr>
              <a:t>hr</a:t>
            </a:r>
            <a:r>
              <a:rPr sz="1100" b="0" i="1" dirty="0">
                <a:solidFill>
                  <a:srgbClr val="FFFFFF"/>
                </a:solidFill>
                <a:latin typeface="Calibri"/>
              </a:rPr>
              <a:t>  da  </a:t>
            </a:r>
            <a:r>
              <a:rPr sz="1100" b="0" i="1" dirty="0" err="1">
                <a:solidFill>
                  <a:srgbClr val="FFFFFF"/>
                </a:solidFill>
                <a:latin typeface="Calibri"/>
              </a:rPr>
              <a:t>nl</a:t>
            </a:r>
            <a:r>
              <a:rPr sz="1100" b="0" i="1" dirty="0">
                <a:solidFill>
                  <a:srgbClr val="FFFFFF"/>
                </a:solidFill>
                <a:latin typeface="Calibri"/>
              </a:rPr>
              <a:t>  fi  </a:t>
            </a:r>
            <a:r>
              <a:rPr sz="1100" b="0" i="1" dirty="0" err="1">
                <a:solidFill>
                  <a:srgbClr val="FFFFFF"/>
                </a:solidFill>
                <a:latin typeface="Calibri"/>
              </a:rPr>
              <a:t>fr</a:t>
            </a:r>
            <a:r>
              <a:rPr sz="1100" b="0" i="1" dirty="0">
                <a:solidFill>
                  <a:srgbClr val="FFFFFF"/>
                </a:solidFill>
                <a:latin typeface="Calibri"/>
              </a:rPr>
              <a:t>  de  </a:t>
            </a:r>
            <a:r>
              <a:rPr sz="1100" b="0" i="1" dirty="0" err="1">
                <a:solidFill>
                  <a:srgbClr val="FFFFFF"/>
                </a:solidFill>
                <a:latin typeface="Calibri"/>
              </a:rPr>
              <a:t>el</a:t>
            </a:r>
            <a:endParaRPr sz="1100" b="0" i="1" dirty="0">
              <a:solidFill>
                <a:srgbClr val="FFFFFF"/>
              </a:solidFill>
              <a:latin typeface="Calibri"/>
            </a:endParaRPr>
          </a:p>
          <a:p>
            <a:pPr algn="l"/>
            <a:r>
              <a:rPr sz="1100" b="0" i="1" dirty="0">
                <a:solidFill>
                  <a:srgbClr val="FFFFFF"/>
                </a:solidFill>
                <a:latin typeface="Calibri"/>
              </a:rPr>
              <a:t>it  ja  ko  </a:t>
            </a:r>
            <a:r>
              <a:rPr sz="1100" b="0" i="1" dirty="0" err="1">
                <a:solidFill>
                  <a:srgbClr val="FFFFFF"/>
                </a:solidFill>
                <a:latin typeface="Calibri"/>
              </a:rPr>
              <a:t>lt</a:t>
            </a:r>
            <a:r>
              <a:rPr sz="1100" b="0" i="1" dirty="0">
                <a:solidFill>
                  <a:srgbClr val="FFFFFF"/>
                </a:solidFill>
                <a:latin typeface="Calibri"/>
              </a:rPr>
              <a:t>  </a:t>
            </a:r>
            <a:r>
              <a:rPr sz="1100" b="0" i="1" dirty="0" err="1">
                <a:solidFill>
                  <a:srgbClr val="FFFFFF"/>
                </a:solidFill>
                <a:latin typeface="Calibri"/>
              </a:rPr>
              <a:t>mk</a:t>
            </a:r>
            <a:r>
              <a:rPr sz="1100" b="0" i="1" dirty="0">
                <a:solidFill>
                  <a:srgbClr val="FFFFFF"/>
                </a:solidFill>
                <a:latin typeface="Calibri"/>
              </a:rPr>
              <a:t>  </a:t>
            </a:r>
            <a:r>
              <a:rPr sz="1100" b="0" i="1" dirty="0" err="1">
                <a:solidFill>
                  <a:srgbClr val="FFFFFF"/>
                </a:solidFill>
                <a:latin typeface="Calibri"/>
              </a:rPr>
              <a:t>nb</a:t>
            </a:r>
            <a:r>
              <a:rPr sz="1100" b="0" i="1" dirty="0">
                <a:solidFill>
                  <a:srgbClr val="FFFFFF"/>
                </a:solidFill>
                <a:latin typeface="Calibri"/>
              </a:rPr>
              <a:t>  pl  pt  </a:t>
            </a:r>
            <a:r>
              <a:rPr sz="1100" b="0" i="1" dirty="0" err="1">
                <a:solidFill>
                  <a:srgbClr val="FFFFFF"/>
                </a:solidFill>
                <a:latin typeface="Calibri"/>
              </a:rPr>
              <a:t>ro</a:t>
            </a:r>
            <a:r>
              <a:rPr sz="1100" b="0" i="1" dirty="0">
                <a:solidFill>
                  <a:srgbClr val="FFFFFF"/>
                </a:solidFill>
                <a:latin typeface="Calibri"/>
              </a:rPr>
              <a:t>  </a:t>
            </a:r>
            <a:r>
              <a:rPr sz="1100" b="0" i="1" dirty="0" err="1">
                <a:solidFill>
                  <a:srgbClr val="FFFFFF"/>
                </a:solidFill>
                <a:latin typeface="Calibri"/>
              </a:rPr>
              <a:t>ru</a:t>
            </a:r>
            <a:endParaRPr sz="1100" b="0" i="1" dirty="0">
              <a:solidFill>
                <a:srgbClr val="FFFFFF"/>
              </a:solidFill>
              <a:latin typeface="Calibri"/>
            </a:endParaRPr>
          </a:p>
          <a:p>
            <a:pPr algn="l"/>
            <a:r>
              <a:rPr sz="1100" b="0" i="1" dirty="0" err="1">
                <a:solidFill>
                  <a:srgbClr val="FFFFFF"/>
                </a:solidFill>
                <a:latin typeface="Calibri"/>
              </a:rPr>
              <a:t>sl</a:t>
            </a:r>
            <a:r>
              <a:rPr sz="1100" b="0" i="1" dirty="0">
                <a:solidFill>
                  <a:srgbClr val="FFFFFF"/>
                </a:solidFill>
                <a:latin typeface="Calibri"/>
              </a:rPr>
              <a:t>  es  </a:t>
            </a:r>
            <a:r>
              <a:rPr sz="1100" b="0" i="1" dirty="0" err="1">
                <a:solidFill>
                  <a:srgbClr val="FFFFFF"/>
                </a:solidFill>
                <a:latin typeface="Calibri"/>
              </a:rPr>
              <a:t>sv</a:t>
            </a:r>
            <a:r>
              <a:rPr sz="1100" b="0" i="1" dirty="0">
                <a:solidFill>
                  <a:srgbClr val="FFFFFF"/>
                </a:solidFill>
                <a:latin typeface="Calibri"/>
              </a:rPr>
              <a:t>  </a:t>
            </a:r>
            <a:r>
              <a:rPr sz="1100" b="0" i="1" dirty="0" err="1">
                <a:solidFill>
                  <a:srgbClr val="FFFFFF"/>
                </a:solidFill>
                <a:latin typeface="Calibri"/>
              </a:rPr>
              <a:t>uk</a:t>
            </a:r>
            <a:endParaRPr sz="1100" b="0" i="1" dirty="0">
              <a:solidFill>
                <a:srgbClr val="FFFFFF"/>
              </a:solidFill>
              <a:latin typeface="Calibri"/>
            </a:endParaRPr>
          </a:p>
          <a:p>
            <a:pPr algn="l"/>
            <a:endParaRPr sz="1100" b="0" i="1" dirty="0">
              <a:solidFill>
                <a:srgbClr val="FFFFFF"/>
              </a:solidFill>
              <a:latin typeface="Calibri"/>
            </a:endParaRPr>
          </a:p>
          <a:p>
            <a:pPr algn="l"/>
            <a:r>
              <a:rPr sz="1300" b="1" i="0" dirty="0">
                <a:solidFill>
                  <a:srgbClr val="F5A623"/>
                </a:solidFill>
                <a:latin typeface="Calibri"/>
              </a:rPr>
              <a:t>File Formats</a:t>
            </a:r>
          </a:p>
          <a:p>
            <a:pPr algn="l"/>
            <a:endParaRPr sz="1300" b="1" i="0" dirty="0">
              <a:solidFill>
                <a:srgbClr val="F5A623"/>
              </a:solidFill>
              <a:latin typeface="Calibri"/>
            </a:endParaRPr>
          </a:p>
          <a:p>
            <a:pPr algn="l"/>
            <a:r>
              <a:rPr sz="1100" b="0" i="0" dirty="0">
                <a:solidFill>
                  <a:srgbClr val="CCD6E8"/>
                </a:solidFill>
                <a:latin typeface="Calibri"/>
              </a:rPr>
              <a:t>Raw datasets:   Apache Parquet (.parquet)</a:t>
            </a:r>
          </a:p>
          <a:p>
            <a:pPr algn="l"/>
            <a:r>
              <a:rPr sz="1100" b="0" i="1" dirty="0">
                <a:solidFill>
                  <a:srgbClr val="FFFFFF"/>
                </a:solidFill>
                <a:latin typeface="Calibri"/>
              </a:rPr>
              <a:t>  Filename:  {</a:t>
            </a:r>
            <a:r>
              <a:rPr sz="1100" b="0" i="1" dirty="0" err="1">
                <a:solidFill>
                  <a:srgbClr val="FFFFFF"/>
                </a:solidFill>
                <a:latin typeface="Calibri"/>
              </a:rPr>
              <a:t>iso_code</a:t>
            </a:r>
            <a:r>
              <a:rPr sz="1100" b="0" i="1" dirty="0">
                <a:solidFill>
                  <a:srgbClr val="FFFFFF"/>
                </a:solidFill>
                <a:latin typeface="Calibri"/>
              </a:rPr>
              <a:t>}_{</a:t>
            </a:r>
            <a:r>
              <a:rPr sz="1100" b="0" i="1" dirty="0" err="1">
                <a:solidFill>
                  <a:srgbClr val="FFFFFF"/>
                </a:solidFill>
                <a:latin typeface="Calibri"/>
              </a:rPr>
              <a:t>shard_id</a:t>
            </a:r>
            <a:r>
              <a:rPr sz="1100" b="0" i="1" dirty="0">
                <a:solidFill>
                  <a:srgbClr val="FFFFFF"/>
                </a:solidFill>
                <a:latin typeface="Calibri"/>
              </a:rPr>
              <a:t>}.parquet</a:t>
            </a:r>
          </a:p>
          <a:p>
            <a:pPr algn="l"/>
            <a:r>
              <a:rPr sz="1100" b="0" i="0" dirty="0">
                <a:solidFill>
                  <a:srgbClr val="CCD6E8"/>
                </a:solidFill>
                <a:latin typeface="Calibri"/>
              </a:rPr>
              <a:t>Profiles:       Python pickle (.</a:t>
            </a:r>
            <a:r>
              <a:rPr sz="1100" b="0" i="0" dirty="0" err="1">
                <a:solidFill>
                  <a:srgbClr val="CCD6E8"/>
                </a:solidFill>
                <a:latin typeface="Calibri"/>
              </a:rPr>
              <a:t>pkl</a:t>
            </a:r>
            <a:r>
              <a:rPr sz="1100" b="0" i="0" dirty="0">
                <a:solidFill>
                  <a:srgbClr val="CCD6E8"/>
                </a:solidFill>
                <a:latin typeface="Calibri"/>
              </a:rPr>
              <a:t>)</a:t>
            </a:r>
          </a:p>
          <a:p>
            <a:pPr algn="l"/>
            <a:r>
              <a:rPr sz="1100" b="0" i="0" dirty="0">
                <a:solidFill>
                  <a:srgbClr val="CCD6E8"/>
                </a:solidFill>
                <a:latin typeface="Calibri"/>
              </a:rPr>
              <a:t>  One file per dataset in profiles/</a:t>
            </a:r>
          </a:p>
          <a:p>
            <a:pPr algn="l"/>
            <a:r>
              <a:rPr sz="1100" b="0" i="0" dirty="0">
                <a:solidFill>
                  <a:srgbClr val="CCD6E8"/>
                </a:solidFill>
                <a:latin typeface="Calibri"/>
              </a:rPr>
              <a:t>MKB store:      </a:t>
            </a:r>
            <a:r>
              <a:rPr sz="1100" b="0" i="0" dirty="0" err="1">
                <a:solidFill>
                  <a:srgbClr val="CCD6E8"/>
                </a:solidFill>
                <a:latin typeface="Calibri"/>
              </a:rPr>
              <a:t>mkb.pkl</a:t>
            </a:r>
            <a:r>
              <a:rPr sz="1100" b="0" i="0" dirty="0">
                <a:solidFill>
                  <a:srgbClr val="CCD6E8"/>
                </a:solidFill>
                <a:latin typeface="Calibri"/>
              </a:rPr>
              <a:t>  (pickle, HIGHEST_PROTOCOL)</a:t>
            </a:r>
          </a:p>
          <a:p>
            <a:pPr algn="l"/>
            <a:r>
              <a:rPr sz="1100" b="0" i="0" dirty="0">
                <a:solidFill>
                  <a:srgbClr val="CCD6E8"/>
                </a:solidFill>
                <a:latin typeface="Calibri"/>
              </a:rPr>
              <a:t>Benchmarks:     </a:t>
            </a:r>
            <a:r>
              <a:rPr sz="1100" b="0" i="0" dirty="0" err="1">
                <a:solidFill>
                  <a:srgbClr val="CCD6E8"/>
                </a:solidFill>
                <a:latin typeface="Calibri"/>
              </a:rPr>
              <a:t>benchmark_metadata.json</a:t>
            </a:r>
            <a:r>
              <a:rPr sz="1100" b="0" i="0" dirty="0">
                <a:solidFill>
                  <a:srgbClr val="CCD6E8"/>
                </a:solidFill>
                <a:latin typeface="Calibri"/>
              </a:rPr>
              <a:t>  per model</a:t>
            </a:r>
          </a:p>
          <a:p>
            <a:pPr algn="l"/>
            <a:r>
              <a:rPr sz="1100" b="0" i="0" dirty="0">
                <a:solidFill>
                  <a:srgbClr val="CCD6E8"/>
                </a:solidFill>
                <a:latin typeface="Calibri"/>
              </a:rPr>
              <a:t>Config:         </a:t>
            </a:r>
            <a:r>
              <a:rPr sz="1100" b="0" i="0" dirty="0" err="1">
                <a:solidFill>
                  <a:srgbClr val="CCD6E8"/>
                </a:solidFill>
                <a:latin typeface="Calibri"/>
              </a:rPr>
              <a:t>config.yaml</a:t>
            </a:r>
            <a:endParaRPr sz="1100" b="0" i="0" dirty="0">
              <a:solidFill>
                <a:srgbClr val="CCD6E8"/>
              </a:solidFill>
              <a:latin typeface="Calibri"/>
            </a:endParaRPr>
          </a:p>
          <a:p>
            <a:pPr algn="l"/>
            <a:endParaRPr sz="1100" b="0" i="0" dirty="0">
              <a:solidFill>
                <a:srgbClr val="CCD6E8"/>
              </a:solidFill>
              <a:latin typeface="Calibri"/>
            </a:endParaRPr>
          </a:p>
          <a:p>
            <a:pPr algn="l"/>
            <a:r>
              <a:rPr sz="1300" b="1" i="0" dirty="0">
                <a:solidFill>
                  <a:srgbClr val="F5A623"/>
                </a:solidFill>
                <a:latin typeface="Calibri"/>
              </a:rPr>
              <a:t>Benchmark Metrics per Model Variant</a:t>
            </a:r>
          </a:p>
          <a:p>
            <a:pPr algn="l"/>
            <a:endParaRPr sz="1300" b="1" i="0" dirty="0">
              <a:solidFill>
                <a:srgbClr val="F5A623"/>
              </a:solidFill>
              <a:latin typeface="Calibri"/>
            </a:endParaRPr>
          </a:p>
          <a:p>
            <a:pPr algn="l"/>
            <a:r>
              <a:rPr sz="1100" b="0" i="0" dirty="0">
                <a:solidFill>
                  <a:srgbClr val="CCD6E8"/>
                </a:solidFill>
                <a:latin typeface="Calibri"/>
              </a:rPr>
              <a:t>accuracy  |  f1_macro  |  f1_weighted</a:t>
            </a:r>
          </a:p>
          <a:p>
            <a:pPr algn="l"/>
            <a:r>
              <a:rPr sz="1100" b="0" i="0" dirty="0" err="1">
                <a:solidFill>
                  <a:srgbClr val="CCD6E8"/>
                </a:solidFill>
                <a:latin typeface="Calibri"/>
              </a:rPr>
              <a:t>precision_macro</a:t>
            </a:r>
            <a:r>
              <a:rPr sz="1100" b="0" i="0" dirty="0">
                <a:solidFill>
                  <a:srgbClr val="CCD6E8"/>
                </a:solidFill>
                <a:latin typeface="Calibri"/>
              </a:rPr>
              <a:t>  |  </a:t>
            </a:r>
            <a:r>
              <a:rPr sz="1100" b="0" i="0" dirty="0" err="1">
                <a:solidFill>
                  <a:srgbClr val="CCD6E8"/>
                </a:solidFill>
                <a:latin typeface="Calibri"/>
              </a:rPr>
              <a:t>recall_macro</a:t>
            </a:r>
            <a:endParaRPr sz="1100" b="0" i="0" dirty="0">
              <a:solidFill>
                <a:srgbClr val="CCD6E8"/>
              </a:solidFill>
              <a:latin typeface="Calibri"/>
            </a:endParaRPr>
          </a:p>
          <a:p>
            <a:pPr algn="l"/>
            <a:r>
              <a:rPr sz="1100" b="0" i="0" dirty="0" err="1">
                <a:solidFill>
                  <a:srgbClr val="CCD6E8"/>
                </a:solidFill>
                <a:latin typeface="Calibri"/>
              </a:rPr>
              <a:t>inference_time_total_s</a:t>
            </a:r>
            <a:endParaRPr sz="1100" b="0" i="0" dirty="0">
              <a:solidFill>
                <a:srgbClr val="CCD6E8"/>
              </a:solidFill>
              <a:latin typeface="Calibri"/>
            </a:endParaRPr>
          </a:p>
          <a:p>
            <a:pPr algn="l"/>
            <a:endParaRPr sz="1100" b="0" i="0" dirty="0">
              <a:solidFill>
                <a:srgbClr val="CCD6E8"/>
              </a:solidFill>
              <a:latin typeface="Calibri"/>
            </a:endParaRPr>
          </a:p>
          <a:p>
            <a:pPr algn="l"/>
            <a:r>
              <a:rPr sz="1300" b="1" i="0" dirty="0">
                <a:solidFill>
                  <a:srgbClr val="F5A623"/>
                </a:solidFill>
                <a:latin typeface="Calibri"/>
              </a:rPr>
              <a:t>MKB Formula</a:t>
            </a:r>
          </a:p>
          <a:p>
            <a:pPr algn="l"/>
            <a:endParaRPr sz="1300" b="1" i="0" dirty="0">
              <a:solidFill>
                <a:srgbClr val="F5A623"/>
              </a:solidFill>
              <a:latin typeface="Calibri"/>
            </a:endParaRPr>
          </a:p>
          <a:p>
            <a:pPr algn="l"/>
            <a:r>
              <a:rPr sz="1100" b="0" i="1" dirty="0">
                <a:solidFill>
                  <a:srgbClr val="FFFFFF"/>
                </a:solidFill>
                <a:latin typeface="Calibri"/>
              </a:rPr>
              <a:t>𝒦 = {𝒟₁, …, 𝒟₁₈}     |</a:t>
            </a:r>
            <a:r>
              <a:rPr sz="1100" b="0" i="1" dirty="0" err="1">
                <a:solidFill>
                  <a:srgbClr val="FFFFFF"/>
                </a:solidFill>
                <a:latin typeface="Calibri"/>
              </a:rPr>
              <a:t>Λ_global</a:t>
            </a:r>
            <a:r>
              <a:rPr sz="1100" b="0" i="1" dirty="0">
                <a:solidFill>
                  <a:srgbClr val="FFFFFF"/>
                </a:solidFill>
                <a:latin typeface="Calibri"/>
              </a:rPr>
              <a:t>| = 24</a:t>
            </a:r>
          </a:p>
          <a:p>
            <a:pPr algn="l"/>
            <a:r>
              <a:rPr sz="1100" b="0" i="1" dirty="0">
                <a:solidFill>
                  <a:srgbClr val="FFFFFF"/>
                </a:solidFill>
                <a:latin typeface="Calibri"/>
              </a:rPr>
              <a:t>Nⱼ,ₗ ≤ 100  per language per dataset</a:t>
            </a:r>
          </a:p>
          <a:p>
            <a:pPr algn="l"/>
            <a:r>
              <a:rPr sz="1100" b="0" i="0" dirty="0">
                <a:solidFill>
                  <a:srgbClr val="CCD6E8"/>
                </a:solidFill>
                <a:latin typeface="Calibri"/>
              </a:rPr>
              <a:t>Total language-dataset pairs: 340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CONF_THRESHOLD = 0.0: The Case Against Linguistic Suppression</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3657600" cy="32918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97280"/>
            <a:ext cx="3383280" cy="3108960"/>
          </a:xfrm>
          <a:prstGeom prst="rect">
            <a:avLst/>
          </a:prstGeom>
          <a:noFill/>
        </p:spPr>
        <p:txBody>
          <a:bodyPr wrap="square">
            <a:spAutoFit/>
          </a:bodyPr>
          <a:lstStyle/>
          <a:p>
            <a:pPr algn="l"/>
            <a:r>
              <a:rPr sz="1400" b="1" i="0">
                <a:solidFill>
                  <a:srgbClr val="F5A623"/>
                </a:solidFill>
                <a:latin typeface="Calibri"/>
              </a:rPr>
              <a:t>Key Constants</a:t>
            </a:r>
          </a:p>
          <a:p>
            <a:pPr algn="l"/>
            <a:endParaRPr sz="1400" b="1" i="0">
              <a:solidFill>
                <a:srgbClr val="F5A623"/>
              </a:solidFill>
              <a:latin typeface="Calibri"/>
            </a:endParaRPr>
          </a:p>
          <a:p>
            <a:pPr algn="l"/>
            <a:r>
              <a:rPr sz="1400" b="1" i="1">
                <a:solidFill>
                  <a:srgbClr val="FFFFFF"/>
                </a:solidFill>
                <a:latin typeface="Calibri"/>
              </a:rPr>
              <a:t>SNAPSHOT_SIZE  = 10,000</a:t>
            </a:r>
          </a:p>
          <a:p>
            <a:pPr algn="l"/>
            <a:r>
              <a:rPr sz="1100" b="0" i="0">
                <a:solidFill>
                  <a:srgbClr val="CCD6E8"/>
                </a:solidFill>
                <a:latin typeface="Calibri"/>
              </a:rPr>
              <a:t>  Max texts for language census</a:t>
            </a:r>
          </a:p>
          <a:p>
            <a:pPr algn="l"/>
            <a:endParaRPr sz="1100" b="0" i="0">
              <a:solidFill>
                <a:srgbClr val="CCD6E8"/>
              </a:solidFill>
              <a:latin typeface="Calibri"/>
            </a:endParaRPr>
          </a:p>
          <a:p>
            <a:pPr algn="l"/>
            <a:r>
              <a:rPr sz="1400" b="1" i="1">
                <a:solidFill>
                  <a:srgbClr val="FFFFFF"/>
                </a:solidFill>
                <a:latin typeface="Calibri"/>
              </a:rPr>
              <a:t>MAX_SAMPLES  = 100</a:t>
            </a:r>
          </a:p>
          <a:p>
            <a:pPr algn="l"/>
            <a:r>
              <a:rPr sz="1100" b="0" i="0">
                <a:solidFill>
                  <a:srgbClr val="CCD6E8"/>
                </a:solidFill>
                <a:latin typeface="Calibri"/>
              </a:rPr>
              <a:t>  Cap per language per dataset</a:t>
            </a:r>
          </a:p>
          <a:p>
            <a:pPr algn="l"/>
            <a:endParaRPr sz="1100" b="0" i="0">
              <a:solidFill>
                <a:srgbClr val="CCD6E8"/>
              </a:solidFill>
              <a:latin typeface="Calibri"/>
            </a:endParaRPr>
          </a:p>
          <a:p>
            <a:pPr algn="l"/>
            <a:r>
              <a:rPr sz="1400" b="1" i="1">
                <a:solidFill>
                  <a:srgbClr val="E94F37"/>
                </a:solidFill>
                <a:latin typeface="Calibri"/>
              </a:rPr>
              <a:t>CONF_THRESHOLD  = 0.0</a:t>
            </a:r>
          </a:p>
          <a:p>
            <a:pPr algn="l"/>
            <a:r>
              <a:rPr sz="1100" b="0" i="0">
                <a:solidFill>
                  <a:srgbClr val="CCD6E8"/>
                </a:solidFill>
                <a:latin typeface="Calibri"/>
              </a:rPr>
              <a:t>  FastText confidence threshold</a:t>
            </a:r>
          </a:p>
          <a:p>
            <a:pPr algn="l"/>
            <a:r>
              <a:rPr sz="1100" b="0" i="0">
                <a:solidFill>
                  <a:srgbClr val="CCD6E8"/>
                </a:solidFill>
                <a:latin typeface="Calibri"/>
              </a:rPr>
              <a:t>  Accept ALL detected tokens</a:t>
            </a:r>
          </a:p>
          <a:p>
            <a:pPr algn="l"/>
            <a:endParaRPr sz="1100" b="0" i="0">
              <a:solidFill>
                <a:srgbClr val="CCD6E8"/>
              </a:solidFill>
              <a:latin typeface="Calibri"/>
            </a:endParaRPr>
          </a:p>
          <a:p>
            <a:pPr algn="l"/>
            <a:r>
              <a:rPr sz="1000" b="0" i="1">
                <a:solidFill>
                  <a:srgbClr val="CCD6E8"/>
                </a:solidFill>
                <a:latin typeface="Calibri"/>
              </a:rPr>
              <a:t>Source: profiler_knowledge_base.py</a:t>
            </a:r>
          </a:p>
        </p:txBody>
      </p:sp>
      <p:sp>
        <p:nvSpPr>
          <p:cNvPr id="7" name="Rectangle 6"/>
          <p:cNvSpPr/>
          <p:nvPr/>
        </p:nvSpPr>
        <p:spPr>
          <a:xfrm>
            <a:off x="4343400" y="1005840"/>
            <a:ext cx="3703320" cy="32918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43400" y="1005840"/>
            <a:ext cx="3703320" cy="34747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033271"/>
            <a:ext cx="3520440" cy="320040"/>
          </a:xfrm>
          <a:prstGeom prst="rect">
            <a:avLst/>
          </a:prstGeom>
          <a:noFill/>
        </p:spPr>
        <p:txBody>
          <a:bodyPr wrap="square"/>
          <a:lstStyle/>
          <a:p>
            <a:pPr algn="l"/>
            <a:r>
              <a:rPr sz="1100" b="1" i="0">
                <a:solidFill>
                  <a:srgbClr val="FFFFFF"/>
                </a:solidFill>
                <a:latin typeface="Calibri"/>
              </a:rPr>
              <a:t>tau = 0.7  (filtered)  —  BIASED PROFILE</a:t>
            </a:r>
          </a:p>
        </p:txBody>
      </p:sp>
      <p:sp>
        <p:nvSpPr>
          <p:cNvPr id="10" name="TextBox 9"/>
          <p:cNvSpPr txBox="1"/>
          <p:nvPr/>
        </p:nvSpPr>
        <p:spPr>
          <a:xfrm>
            <a:off x="4434840" y="1371600"/>
            <a:ext cx="3520440" cy="2743200"/>
          </a:xfrm>
          <a:prstGeom prst="rect">
            <a:avLst/>
          </a:prstGeom>
          <a:noFill/>
        </p:spPr>
        <p:txBody>
          <a:bodyPr wrap="square">
            <a:spAutoFit/>
          </a:bodyPr>
          <a:lstStyle/>
          <a:p>
            <a:pPr algn="l"/>
            <a:endParaRPr/>
          </a:p>
          <a:p>
            <a:pPr algn="l"/>
            <a:r>
              <a:rPr sz="1100" b="0" i="0">
                <a:solidFill>
                  <a:srgbClr val="CCD6E8"/>
                </a:solidFill>
                <a:latin typeface="Calibri"/>
              </a:rPr>
              <a:t>  •  Minority-language samples discarded</a:t>
            </a:r>
          </a:p>
          <a:p>
            <a:pPr algn="l"/>
            <a:r>
              <a:rPr sz="1100" b="0" i="0">
                <a:solidFill>
                  <a:srgbClr val="CCD6E8"/>
                </a:solidFill>
                <a:latin typeface="Calibri"/>
              </a:rPr>
              <a:t>  •  Ambiguous code-switched text lost</a:t>
            </a:r>
          </a:p>
          <a:p>
            <a:pPr algn="l"/>
            <a:r>
              <a:rPr sz="1100" b="0" i="0">
                <a:solidFill>
                  <a:srgbClr val="CCD6E8"/>
                </a:solidFill>
                <a:latin typeface="Calibri"/>
              </a:rPr>
              <a:t>  •  Social-media noise removed silently</a:t>
            </a:r>
          </a:p>
          <a:p>
            <a:pPr algn="l"/>
            <a:r>
              <a:rPr sz="1100" b="0" i="0">
                <a:solidFill>
                  <a:srgbClr val="CCD6E8"/>
                </a:solidFill>
                <a:latin typeface="Calibri"/>
              </a:rPr>
              <a:t>  •  Profile looks 'clean' but misleading</a:t>
            </a:r>
          </a:p>
          <a:p>
            <a:pPr algn="l"/>
            <a:r>
              <a:rPr sz="1100" b="0" i="0">
                <a:solidFill>
                  <a:srgbClr val="CCD6E8"/>
                </a:solidFill>
                <a:latin typeface="Calibri"/>
              </a:rPr>
              <a:t>  •  Recommendation tuned to easy data</a:t>
            </a:r>
          </a:p>
        </p:txBody>
      </p:sp>
      <p:sp>
        <p:nvSpPr>
          <p:cNvPr id="11" name="Rectangle 10"/>
          <p:cNvSpPr/>
          <p:nvPr/>
        </p:nvSpPr>
        <p:spPr>
          <a:xfrm>
            <a:off x="8275320" y="1005840"/>
            <a:ext cx="3703320" cy="32918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75320" y="1005840"/>
            <a:ext cx="3703320" cy="34747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66760" y="1033271"/>
            <a:ext cx="3520440" cy="320040"/>
          </a:xfrm>
          <a:prstGeom prst="rect">
            <a:avLst/>
          </a:prstGeom>
          <a:noFill/>
        </p:spPr>
        <p:txBody>
          <a:bodyPr wrap="square"/>
          <a:lstStyle/>
          <a:p>
            <a:pPr algn="l"/>
            <a:r>
              <a:rPr sz="1100" b="1" i="0">
                <a:solidFill>
                  <a:srgbClr val="FFFFFF"/>
                </a:solidFill>
                <a:latin typeface="Calibri"/>
              </a:rPr>
              <a:t>tau = 0.0  (unfiltered)  —  HONEST PROFILE</a:t>
            </a:r>
          </a:p>
        </p:txBody>
      </p:sp>
      <p:sp>
        <p:nvSpPr>
          <p:cNvPr id="14" name="TextBox 13"/>
          <p:cNvSpPr txBox="1"/>
          <p:nvPr/>
        </p:nvSpPr>
        <p:spPr>
          <a:xfrm>
            <a:off x="8366760" y="1371600"/>
            <a:ext cx="3520440" cy="2743200"/>
          </a:xfrm>
          <a:prstGeom prst="rect">
            <a:avLst/>
          </a:prstGeom>
          <a:noFill/>
        </p:spPr>
        <p:txBody>
          <a:bodyPr wrap="square">
            <a:spAutoFit/>
          </a:bodyPr>
          <a:lstStyle/>
          <a:p>
            <a:pPr algn="l"/>
            <a:endParaRPr/>
          </a:p>
          <a:p>
            <a:pPr algn="l"/>
            <a:r>
              <a:rPr sz="1100" b="0" i="0">
                <a:solidFill>
                  <a:srgbClr val="CCD6E8"/>
                </a:solidFill>
                <a:latin typeface="Calibri"/>
              </a:rPr>
              <a:t>  •  All detected tokens accepted</a:t>
            </a:r>
          </a:p>
          <a:p>
            <a:pPr algn="l"/>
            <a:r>
              <a:rPr sz="1100" b="0" i="0">
                <a:solidFill>
                  <a:srgbClr val="CCD6E8"/>
                </a:solidFill>
                <a:latin typeface="Calibri"/>
              </a:rPr>
              <a:t>  •  Noisy, ambiguous samples retained</a:t>
            </a:r>
          </a:p>
          <a:p>
            <a:pPr algn="l"/>
            <a:r>
              <a:rPr sz="1100" b="0" i="0">
                <a:solidFill>
                  <a:srgbClr val="CCD6E8"/>
                </a:solidFill>
                <a:latin typeface="Calibri"/>
              </a:rPr>
              <a:t>  •  Profile reflects real-world distribution</a:t>
            </a:r>
          </a:p>
          <a:p>
            <a:pPr algn="l"/>
            <a:r>
              <a:rPr sz="1100" b="0" i="0">
                <a:solidFill>
                  <a:srgbClr val="CCD6E8"/>
                </a:solidFill>
                <a:latin typeface="Calibri"/>
              </a:rPr>
              <a:t>  •  Hard datasets look hard</a:t>
            </a:r>
          </a:p>
          <a:p>
            <a:pPr algn="l"/>
            <a:r>
              <a:rPr sz="1100" b="0" i="0">
                <a:solidFill>
                  <a:srgbClr val="CCD6E8"/>
                </a:solidFill>
                <a:latin typeface="Calibri"/>
              </a:rPr>
              <a:t>  •  Recommendation accounts for complexity</a:t>
            </a:r>
          </a:p>
        </p:txBody>
      </p:sp>
      <p:sp>
        <p:nvSpPr>
          <p:cNvPr id="15" name="Rectangle 14"/>
          <p:cNvSpPr/>
          <p:nvPr/>
        </p:nvSpPr>
        <p:spPr>
          <a:xfrm>
            <a:off x="502920" y="4434840"/>
            <a:ext cx="11274552" cy="21945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507992"/>
            <a:ext cx="10972800" cy="2057400"/>
          </a:xfrm>
          <a:prstGeom prst="rect">
            <a:avLst/>
          </a:prstGeom>
          <a:noFill/>
        </p:spPr>
        <p:txBody>
          <a:bodyPr wrap="square">
            <a:spAutoFit/>
          </a:bodyPr>
          <a:lstStyle/>
          <a:p>
            <a:pPr algn="l"/>
            <a:r>
              <a:rPr sz="1300" b="1" i="0">
                <a:solidFill>
                  <a:srgbClr val="F5A623"/>
                </a:solidFill>
                <a:latin typeface="Calibri"/>
              </a:rPr>
              <a:t>Bias Analysis of Confidence-Filtered Census</a:t>
            </a:r>
          </a:p>
          <a:p>
            <a:pPr algn="l"/>
            <a:endParaRPr sz="1300" b="1" i="0">
              <a:solidFill>
                <a:srgbClr val="F5A623"/>
              </a:solidFill>
              <a:latin typeface="Calibri"/>
            </a:endParaRPr>
          </a:p>
          <a:p>
            <a:pPr algn="l"/>
            <a:r>
              <a:rPr sz="1300" b="0" i="1">
                <a:solidFill>
                  <a:srgbClr val="FFFFFF"/>
                </a:solidFill>
                <a:latin typeface="Calibri"/>
              </a:rPr>
              <a:t>Standard (biased) filtered census:   𝒮ₗ = { t ∈ 𝒯 : l̂(t) = l  ∧  conf(t) ≥ τ }</a:t>
            </a:r>
          </a:p>
          <a:p>
            <a:pPr algn="l"/>
            <a:r>
              <a:rPr sz="1100" b="0" i="0">
                <a:solidFill>
                  <a:srgbClr val="CCD6E8"/>
                </a:solidFill>
                <a:latin typeface="Calibri"/>
              </a:rPr>
              <a:t>  Selection bias:   𝒮ₗ ⊊ 𝒯ₗ  —  overrepresents prototypical (easy) samples; minority texts discarded</a:t>
            </a:r>
          </a:p>
          <a:p>
            <a:pPr algn="l"/>
            <a:endParaRPr sz="1100" b="0" i="0">
              <a:solidFill>
                <a:srgbClr val="CCD6E8"/>
              </a:solidFill>
              <a:latin typeface="Calibri"/>
            </a:endParaRPr>
          </a:p>
          <a:p>
            <a:pPr algn="l"/>
            <a:r>
              <a:rPr sz="1300" b="0" i="1">
                <a:solidFill>
                  <a:srgbClr val="FFFFFF"/>
                </a:solidFill>
                <a:latin typeface="Calibri"/>
              </a:rPr>
              <a:t>Our unfiltered approach (τ = 0.0):    𝒮ₗ* = { t ∈ 𝒯 : l̂(t) = l }</a:t>
            </a:r>
          </a:p>
          <a:p>
            <a:pPr algn="l"/>
            <a:r>
              <a:rPr sz="1100" b="0" i="0">
                <a:solidFill>
                  <a:srgbClr val="CCD6E8"/>
                </a:solidFill>
                <a:latin typeface="Calibri"/>
              </a:rPr>
              <a:t>  Unbiased:   𝔼[φ̄(𝒮ₗ*)] = φ̄(𝒯ₗ)    vs.    𝔼[φ̄(𝒮ₗ)] ≠ φ̄(𝒯ₗ)  when τ &gt; 0</a:t>
            </a:r>
          </a:p>
          <a:p>
            <a:pPr algn="l"/>
            <a:endParaRPr sz="1100" b="0" i="0">
              <a:solidFill>
                <a:srgbClr val="CCD6E8"/>
              </a:solidFill>
              <a:latin typeface="Calibri"/>
            </a:endParaRPr>
          </a:p>
          <a:p>
            <a:pPr algn="l"/>
            <a:r>
              <a:rPr sz="1100" b="0" i="0">
                <a:solidFill>
                  <a:srgbClr val="CCD6E8"/>
                </a:solidFill>
                <a:latin typeface="Calibri"/>
              </a:rPr>
              <a:t>100-sample convergence:  SE(φ̄ₙ) = σ/√n  →  at n=100,  SE = σ/10  (knee of effort–accuracy curve)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2,726 Features, 5 Semantic Domains: What We Measure and Why</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051560"/>
            <a:ext cx="2176272" cy="347472"/>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088136"/>
            <a:ext cx="2084832" cy="274320"/>
          </a:xfrm>
          <a:prstGeom prst="rect">
            <a:avLst/>
          </a:prstGeom>
          <a:noFill/>
        </p:spPr>
        <p:txBody>
          <a:bodyPr wrap="square"/>
          <a:lstStyle/>
          <a:p>
            <a:pPr algn="l"/>
            <a:r>
              <a:rPr sz="1200" b="1" i="0">
                <a:solidFill>
                  <a:srgbClr val="FFFFFF"/>
                </a:solidFill>
                <a:latin typeface="Calibri"/>
              </a:rPr>
              <a:t>S1  Morphological
Richness</a:t>
            </a:r>
          </a:p>
        </p:txBody>
      </p:sp>
      <p:sp>
        <p:nvSpPr>
          <p:cNvPr id="8" name="Rectangle 7"/>
          <p:cNvSpPr/>
          <p:nvPr/>
        </p:nvSpPr>
        <p:spPr>
          <a:xfrm>
            <a:off x="566928" y="1508760"/>
            <a:ext cx="2048256" cy="45720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527048"/>
            <a:ext cx="2048256" cy="420624"/>
          </a:xfrm>
          <a:prstGeom prst="rect">
            <a:avLst/>
          </a:prstGeom>
          <a:noFill/>
        </p:spPr>
        <p:txBody>
          <a:bodyPr wrap="square"/>
          <a:lstStyle/>
          <a:p>
            <a:pPr algn="ctr"/>
            <a:r>
              <a:rPr sz="1400" b="1" i="0">
                <a:solidFill>
                  <a:srgbClr val="FFFFFF"/>
                </a:solidFill>
                <a:latin typeface="Calibri"/>
              </a:rPr>
              <a:t>917  raw features</a:t>
            </a:r>
          </a:p>
        </p:txBody>
      </p:sp>
      <p:sp>
        <p:nvSpPr>
          <p:cNvPr id="10" name="TextBox 9"/>
          <p:cNvSpPr txBox="1"/>
          <p:nvPr/>
        </p:nvSpPr>
        <p:spPr>
          <a:xfrm>
            <a:off x="594360" y="2057400"/>
            <a:ext cx="2039112" cy="2011680"/>
          </a:xfrm>
          <a:prstGeom prst="rect">
            <a:avLst/>
          </a:prstGeom>
          <a:noFill/>
        </p:spPr>
        <p:txBody>
          <a:bodyPr wrap="square">
            <a:spAutoFit/>
          </a:bodyPr>
          <a:lstStyle/>
          <a:p>
            <a:pPr algn="l"/>
            <a:r>
              <a:rPr sz="1000" b="0" i="0">
                <a:solidFill>
                  <a:srgbClr val="CCD6E8"/>
                </a:solidFill>
                <a:latin typeface="Calibri"/>
              </a:rPr>
              <a:t>Person, number, definiteness,
tense, voice, lemma distance,
types per lemma, verbal forms</a:t>
            </a:r>
          </a:p>
        </p:txBody>
      </p:sp>
      <p:sp>
        <p:nvSpPr>
          <p:cNvPr id="11" name="Rectangle 10"/>
          <p:cNvSpPr/>
          <p:nvPr/>
        </p:nvSpPr>
        <p:spPr>
          <a:xfrm>
            <a:off x="2770632"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70632" y="1051560"/>
            <a:ext cx="2176272" cy="34747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40" y="1088136"/>
            <a:ext cx="2084832" cy="274320"/>
          </a:xfrm>
          <a:prstGeom prst="rect">
            <a:avLst/>
          </a:prstGeom>
          <a:noFill/>
        </p:spPr>
        <p:txBody>
          <a:bodyPr wrap="square"/>
          <a:lstStyle/>
          <a:p>
            <a:pPr algn="l"/>
            <a:r>
              <a:rPr sz="1200" b="1" i="0">
                <a:solidFill>
                  <a:srgbClr val="FFFFFF"/>
                </a:solidFill>
                <a:latin typeface="Calibri"/>
              </a:rPr>
              <a:t>S2  Lexical
Diversity</a:t>
            </a:r>
          </a:p>
        </p:txBody>
      </p:sp>
      <p:sp>
        <p:nvSpPr>
          <p:cNvPr id="14" name="Rectangle 13"/>
          <p:cNvSpPr/>
          <p:nvPr/>
        </p:nvSpPr>
        <p:spPr>
          <a:xfrm>
            <a:off x="2834640" y="1508760"/>
            <a:ext cx="2048256" cy="4572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34640" y="1527048"/>
            <a:ext cx="2048256" cy="420624"/>
          </a:xfrm>
          <a:prstGeom prst="rect">
            <a:avLst/>
          </a:prstGeom>
          <a:noFill/>
        </p:spPr>
        <p:txBody>
          <a:bodyPr wrap="square"/>
          <a:lstStyle/>
          <a:p>
            <a:pPr algn="ctr"/>
            <a:r>
              <a:rPr sz="1400" b="1" i="0">
                <a:solidFill>
                  <a:srgbClr val="FFFFFF"/>
                </a:solidFill>
                <a:latin typeface="Calibri"/>
              </a:rPr>
              <a:t>441  raw features</a:t>
            </a:r>
          </a:p>
        </p:txBody>
      </p:sp>
      <p:sp>
        <p:nvSpPr>
          <p:cNvPr id="16" name="TextBox 15"/>
          <p:cNvSpPr txBox="1"/>
          <p:nvPr/>
        </p:nvSpPr>
        <p:spPr>
          <a:xfrm>
            <a:off x="2862072" y="2057400"/>
            <a:ext cx="2039112" cy="2011680"/>
          </a:xfrm>
          <a:prstGeom prst="rect">
            <a:avLst/>
          </a:prstGeom>
          <a:noFill/>
        </p:spPr>
        <p:txBody>
          <a:bodyPr wrap="square">
            <a:spAutoFit/>
          </a:bodyPr>
          <a:lstStyle/>
          <a:p>
            <a:pPr algn="l"/>
            <a:r>
              <a:rPr sz="1000" b="0" i="0">
                <a:solidFill>
                  <a:srgbClr val="CCD6E8"/>
                </a:solidFill>
                <a:latin typeface="Calibri"/>
              </a:rPr>
              <a:t>Type-token ratio, hapax
legomena, Honore statistic,
Zipf frequency scores</a:t>
            </a:r>
          </a:p>
        </p:txBody>
      </p:sp>
      <p:sp>
        <p:nvSpPr>
          <p:cNvPr id="17" name="Rectangle 16"/>
          <p:cNvSpPr/>
          <p:nvPr/>
        </p:nvSpPr>
        <p:spPr>
          <a:xfrm>
            <a:off x="5038344"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38344" y="1051560"/>
            <a:ext cx="2176272" cy="347472"/>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02352" y="1088136"/>
            <a:ext cx="2084832" cy="274320"/>
          </a:xfrm>
          <a:prstGeom prst="rect">
            <a:avLst/>
          </a:prstGeom>
          <a:noFill/>
        </p:spPr>
        <p:txBody>
          <a:bodyPr wrap="square"/>
          <a:lstStyle/>
          <a:p>
            <a:pPr algn="l"/>
            <a:r>
              <a:rPr sz="1200" b="1" i="0">
                <a:solidFill>
                  <a:srgbClr val="FFFFFF"/>
                </a:solidFill>
                <a:latin typeface="Calibri"/>
              </a:rPr>
              <a:t>S3  Structural /
Syntactic</a:t>
            </a:r>
          </a:p>
        </p:txBody>
      </p:sp>
      <p:sp>
        <p:nvSpPr>
          <p:cNvPr id="20" name="Rectangle 19"/>
          <p:cNvSpPr/>
          <p:nvPr/>
        </p:nvSpPr>
        <p:spPr>
          <a:xfrm>
            <a:off x="5102352" y="1508760"/>
            <a:ext cx="2048256" cy="45720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02352" y="1527048"/>
            <a:ext cx="2048256" cy="420624"/>
          </a:xfrm>
          <a:prstGeom prst="rect">
            <a:avLst/>
          </a:prstGeom>
          <a:noFill/>
        </p:spPr>
        <p:txBody>
          <a:bodyPr wrap="square"/>
          <a:lstStyle/>
          <a:p>
            <a:pPr algn="ctr"/>
            <a:r>
              <a:rPr sz="1400" b="1" i="0">
                <a:solidFill>
                  <a:srgbClr val="FFFFFF"/>
                </a:solidFill>
                <a:latin typeface="Calibri"/>
              </a:rPr>
              <a:t>1,288  raw features</a:t>
            </a:r>
          </a:p>
        </p:txBody>
      </p:sp>
      <p:sp>
        <p:nvSpPr>
          <p:cNvPr id="22" name="TextBox 21"/>
          <p:cNvSpPr txBox="1"/>
          <p:nvPr/>
        </p:nvSpPr>
        <p:spPr>
          <a:xfrm>
            <a:off x="5129784" y="2057400"/>
            <a:ext cx="2039112" cy="2011680"/>
          </a:xfrm>
          <a:prstGeom prst="rect">
            <a:avLst/>
          </a:prstGeom>
          <a:noFill/>
        </p:spPr>
        <p:txBody>
          <a:bodyPr wrap="square">
            <a:spAutoFit/>
          </a:bodyPr>
          <a:lstStyle/>
          <a:p>
            <a:pPr algn="l"/>
            <a:r>
              <a:rPr sz="1000" b="0" i="0">
                <a:solidFill>
                  <a:srgbClr val="CCD6E8"/>
                </a:solidFill>
                <a:latin typeface="Calibri"/>
              </a:rPr>
              <a:t>PoS incidence, PoS ratios,
word/sentence length stats,
dependency structure</a:t>
            </a:r>
          </a:p>
        </p:txBody>
      </p:sp>
      <p:sp>
        <p:nvSpPr>
          <p:cNvPr id="23" name="Rectangle 22"/>
          <p:cNvSpPr/>
          <p:nvPr/>
        </p:nvSpPr>
        <p:spPr>
          <a:xfrm>
            <a:off x="7306056"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06056" y="1051560"/>
            <a:ext cx="2176272" cy="34747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0064" y="1088136"/>
            <a:ext cx="2084832" cy="274320"/>
          </a:xfrm>
          <a:prstGeom prst="rect">
            <a:avLst/>
          </a:prstGeom>
          <a:noFill/>
        </p:spPr>
        <p:txBody>
          <a:bodyPr wrap="square"/>
          <a:lstStyle/>
          <a:p>
            <a:pPr algn="l"/>
            <a:r>
              <a:rPr sz="1200" b="1" i="0">
                <a:solidFill>
                  <a:srgbClr val="FFFFFF"/>
                </a:solidFill>
                <a:latin typeface="Calibri"/>
              </a:rPr>
              <a:t>S4  Information-
Theoretic</a:t>
            </a:r>
          </a:p>
        </p:txBody>
      </p:sp>
      <p:sp>
        <p:nvSpPr>
          <p:cNvPr id="26" name="Rectangle 25"/>
          <p:cNvSpPr/>
          <p:nvPr/>
        </p:nvSpPr>
        <p:spPr>
          <a:xfrm>
            <a:off x="7370064" y="1508760"/>
            <a:ext cx="2048256" cy="45720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70064" y="1527048"/>
            <a:ext cx="2048256" cy="420624"/>
          </a:xfrm>
          <a:prstGeom prst="rect">
            <a:avLst/>
          </a:prstGeom>
          <a:noFill/>
        </p:spPr>
        <p:txBody>
          <a:bodyPr wrap="square"/>
          <a:lstStyle/>
          <a:p>
            <a:pPr algn="ctr"/>
            <a:r>
              <a:rPr sz="1400" b="1" i="0">
                <a:solidFill>
                  <a:srgbClr val="FFFFFF"/>
                </a:solidFill>
                <a:latin typeface="Calibri"/>
              </a:rPr>
              <a:t>20  raw features</a:t>
            </a:r>
          </a:p>
        </p:txBody>
      </p:sp>
      <p:sp>
        <p:nvSpPr>
          <p:cNvPr id="28" name="TextBox 27"/>
          <p:cNvSpPr txBox="1"/>
          <p:nvPr/>
        </p:nvSpPr>
        <p:spPr>
          <a:xfrm>
            <a:off x="7397496" y="2057400"/>
            <a:ext cx="2039112" cy="2011680"/>
          </a:xfrm>
          <a:prstGeom prst="rect">
            <a:avLst/>
          </a:prstGeom>
          <a:noFill/>
        </p:spPr>
        <p:txBody>
          <a:bodyPr wrap="square">
            <a:spAutoFit/>
          </a:bodyPr>
          <a:lstStyle/>
          <a:p>
            <a:pPr algn="l"/>
            <a:r>
              <a:rPr sz="1000" b="0" i="0">
                <a:solidFill>
                  <a:srgbClr val="CCD6E8"/>
                </a:solidFill>
                <a:latin typeface="Calibri"/>
              </a:rPr>
              <a:t>Shannon entropy, Zipf curve
steepness (MLE slope alpha),
Zipf goodness-of-fit (R^2)</a:t>
            </a:r>
          </a:p>
        </p:txBody>
      </p:sp>
      <p:sp>
        <p:nvSpPr>
          <p:cNvPr id="29" name="Rectangle 28"/>
          <p:cNvSpPr/>
          <p:nvPr/>
        </p:nvSpPr>
        <p:spPr>
          <a:xfrm>
            <a:off x="9573768"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73768" y="1051560"/>
            <a:ext cx="2176272" cy="347472"/>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37776" y="1088136"/>
            <a:ext cx="2084832" cy="274320"/>
          </a:xfrm>
          <a:prstGeom prst="rect">
            <a:avLst/>
          </a:prstGeom>
          <a:noFill/>
        </p:spPr>
        <p:txBody>
          <a:bodyPr wrap="square"/>
          <a:lstStyle/>
          <a:p>
            <a:pPr algn="l"/>
            <a:r>
              <a:rPr sz="1200" b="1" i="0">
                <a:solidFill>
                  <a:srgbClr val="FFFFFF"/>
                </a:solidFill>
                <a:latin typeface="Calibri"/>
              </a:rPr>
              <a:t>S5  Cross-Level
Cohesion</a:t>
            </a:r>
          </a:p>
        </p:txBody>
      </p:sp>
      <p:sp>
        <p:nvSpPr>
          <p:cNvPr id="32" name="Rectangle 31"/>
          <p:cNvSpPr/>
          <p:nvPr/>
        </p:nvSpPr>
        <p:spPr>
          <a:xfrm>
            <a:off x="9637776" y="1508760"/>
            <a:ext cx="2048256"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37776" y="1527048"/>
            <a:ext cx="2048256" cy="420624"/>
          </a:xfrm>
          <a:prstGeom prst="rect">
            <a:avLst/>
          </a:prstGeom>
          <a:noFill/>
        </p:spPr>
        <p:txBody>
          <a:bodyPr wrap="square"/>
          <a:lstStyle/>
          <a:p>
            <a:pPr algn="ctr"/>
            <a:r>
              <a:rPr sz="1400" b="1" i="0">
                <a:solidFill>
                  <a:srgbClr val="FFFFFF"/>
                </a:solidFill>
                <a:latin typeface="Calibri"/>
              </a:rPr>
              <a:t>260  raw features</a:t>
            </a:r>
          </a:p>
        </p:txBody>
      </p:sp>
      <p:sp>
        <p:nvSpPr>
          <p:cNvPr id="34" name="TextBox 33"/>
          <p:cNvSpPr txBox="1"/>
          <p:nvPr/>
        </p:nvSpPr>
        <p:spPr>
          <a:xfrm>
            <a:off x="9665208" y="2057400"/>
            <a:ext cx="2039112" cy="2011680"/>
          </a:xfrm>
          <a:prstGeom prst="rect">
            <a:avLst/>
          </a:prstGeom>
          <a:noFill/>
        </p:spPr>
        <p:txBody>
          <a:bodyPr wrap="square">
            <a:spAutoFit/>
          </a:bodyPr>
          <a:lstStyle/>
          <a:p>
            <a:pPr algn="l"/>
            <a:r>
              <a:rPr sz="1000" b="0" i="0">
                <a:solidFill>
                  <a:srgbClr val="CCD6E8"/>
                </a:solidFill>
                <a:latin typeface="Calibri"/>
              </a:rPr>
              <a:t>Par-doc, sent-doc overlap,
cosine / Levenshtein distance
across text unit pairs</a:t>
            </a:r>
          </a:p>
        </p:txBody>
      </p:sp>
      <p:sp>
        <p:nvSpPr>
          <p:cNvPr id="35" name="Rectangle 34"/>
          <p:cNvSpPr/>
          <p:nvPr/>
        </p:nvSpPr>
        <p:spPr>
          <a:xfrm>
            <a:off x="502920" y="4389120"/>
            <a:ext cx="11274552" cy="224028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4462272"/>
            <a:ext cx="10972800" cy="2103120"/>
          </a:xfrm>
          <a:prstGeom prst="rect">
            <a:avLst/>
          </a:prstGeom>
          <a:noFill/>
        </p:spPr>
        <p:txBody>
          <a:bodyPr wrap="square">
            <a:spAutoFit/>
          </a:bodyPr>
          <a:lstStyle/>
          <a:p>
            <a:pPr algn="l"/>
            <a:r>
              <a:rPr sz="1300" b="1" i="0">
                <a:solidFill>
                  <a:srgbClr val="F5A623"/>
                </a:solidFill>
                <a:latin typeface="Calibri"/>
              </a:rPr>
              <a:t>Profile Extraction Formula</a:t>
            </a:r>
          </a:p>
          <a:p>
            <a:pPr algn="l"/>
            <a:endParaRPr sz="1300" b="1" i="0">
              <a:solidFill>
                <a:srgbClr val="F5A623"/>
              </a:solidFill>
              <a:latin typeface="Calibri"/>
            </a:endParaRPr>
          </a:p>
          <a:p>
            <a:pPr algn="l"/>
            <a:r>
              <a:rPr sz="1200" b="0" i="0">
                <a:solidFill>
                  <a:srgbClr val="CCD6E8"/>
                </a:solidFill>
                <a:latin typeface="Calibri"/>
              </a:rPr>
              <a:t>For dataset 𝒟ⱼ and language l,  the raw profile is the feature-wise mean across Nⱼ,ₗ sampled texts:</a:t>
            </a:r>
          </a:p>
          <a:p>
            <a:pPr algn="l"/>
            <a:endParaRPr sz="1200" b="0" i="0">
              <a:solidFill>
                <a:srgbClr val="CCD6E8"/>
              </a:solidFill>
              <a:latin typeface="Calibri"/>
            </a:endParaRPr>
          </a:p>
          <a:p>
            <a:pPr algn="l"/>
            <a:r>
              <a:rPr sz="1300" b="0" i="1">
                <a:solidFill>
                  <a:srgbClr val="FFFFFF"/>
                </a:solidFill>
                <a:latin typeface="Calibri"/>
              </a:rPr>
              <a:t>  p_{j,l}  =  (1 / Nⱼ,ₗ) · Σₙ₌₁^{Nⱼ,ₗ}  φ(tⱼ,ₗ,ₙ)     ∈ ℝᶠ,    F ∈ {2726, 2926}</a:t>
            </a:r>
          </a:p>
          <a:p>
            <a:pPr algn="l"/>
            <a:endParaRPr sz="1300" b="0" i="1">
              <a:solidFill>
                <a:srgbClr val="FFFFFF"/>
              </a:solidFill>
              <a:latin typeface="Calibri"/>
            </a:endParaRPr>
          </a:p>
          <a:p>
            <a:pPr algn="l"/>
            <a:r>
              <a:rPr sz="1300" b="0" i="1">
                <a:solidFill>
                  <a:srgbClr val="FFFFFF"/>
                </a:solidFill>
                <a:latin typeface="Calibri"/>
              </a:rPr>
              <a:t>Full dataset profile matrix:   𝐏ⱼ  =  [ pⱼ,ₗ₁ | pⱼ,ₗ₂ | … | pⱼ,ₗ|Λⱼ| ]   ∈ ℝᶠˣ|Λⱼ|</a:t>
            </a:r>
          </a:p>
          <a:p>
            <a:pPr algn="l"/>
            <a:endParaRPr sz="1300" b="0" i="1">
              <a:solidFill>
                <a:srgbClr val="FFFFFF"/>
              </a:solidFill>
              <a:latin typeface="Calibri"/>
            </a:endParaRPr>
          </a:p>
          <a:p>
            <a:pPr algn="l"/>
            <a:r>
              <a:rPr sz="1100" b="0" i="0">
                <a:solidFill>
                  <a:srgbClr val="CCD6E8"/>
                </a:solidFill>
                <a:latin typeface="Calibri"/>
              </a:rPr>
              <a:t>Serialised to:   profiles/{dataset_name}.pkl   as pd.DataFrame  (F rows × Lⱼ language columns)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Stratum-Wise PCA: 2,926  →  52 Principal Components</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6309360"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005840"/>
            <a:ext cx="201168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042415"/>
            <a:ext cx="2011680" cy="338328"/>
          </a:xfrm>
          <a:prstGeom prst="rect">
            <a:avLst/>
          </a:prstGeom>
          <a:noFill/>
        </p:spPr>
        <p:txBody>
          <a:bodyPr wrap="square"/>
          <a:lstStyle/>
          <a:p>
            <a:pPr algn="l"/>
            <a:r>
              <a:rPr sz="1100" b="1" i="0">
                <a:solidFill>
                  <a:srgbClr val="F5A623"/>
                </a:solidFill>
                <a:latin typeface="Calibri"/>
              </a:rPr>
              <a:t>Stratum</a:t>
            </a:r>
          </a:p>
        </p:txBody>
      </p:sp>
      <p:sp>
        <p:nvSpPr>
          <p:cNvPr id="8" name="Rectangle 7"/>
          <p:cNvSpPr/>
          <p:nvPr/>
        </p:nvSpPr>
        <p:spPr>
          <a:xfrm>
            <a:off x="2514600" y="1005840"/>
            <a:ext cx="146304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78608" y="1042415"/>
            <a:ext cx="1463040" cy="338328"/>
          </a:xfrm>
          <a:prstGeom prst="rect">
            <a:avLst/>
          </a:prstGeom>
          <a:noFill/>
        </p:spPr>
        <p:txBody>
          <a:bodyPr wrap="square"/>
          <a:lstStyle/>
          <a:p>
            <a:pPr algn="l"/>
            <a:r>
              <a:rPr sz="1100" b="1" i="0">
                <a:solidFill>
                  <a:srgbClr val="F5A623"/>
                </a:solidFill>
                <a:latin typeface="Calibri"/>
              </a:rPr>
              <a:t>Raw Features</a:t>
            </a:r>
          </a:p>
        </p:txBody>
      </p:sp>
      <p:sp>
        <p:nvSpPr>
          <p:cNvPr id="10" name="Rectangle 9"/>
          <p:cNvSpPr/>
          <p:nvPr/>
        </p:nvSpPr>
        <p:spPr>
          <a:xfrm>
            <a:off x="3977640" y="1005840"/>
            <a:ext cx="146304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41648" y="1042415"/>
            <a:ext cx="1463040" cy="338328"/>
          </a:xfrm>
          <a:prstGeom prst="rect">
            <a:avLst/>
          </a:prstGeom>
          <a:noFill/>
        </p:spPr>
        <p:txBody>
          <a:bodyPr wrap="square"/>
          <a:lstStyle/>
          <a:p>
            <a:pPr algn="l"/>
            <a:r>
              <a:rPr sz="1100" b="1" i="0">
                <a:solidFill>
                  <a:srgbClr val="F5A623"/>
                </a:solidFill>
                <a:latin typeface="Calibri"/>
              </a:rPr>
              <a:t>PCs Retained</a:t>
            </a:r>
          </a:p>
        </p:txBody>
      </p:sp>
      <p:sp>
        <p:nvSpPr>
          <p:cNvPr id="12" name="Rectangle 11"/>
          <p:cNvSpPr/>
          <p:nvPr/>
        </p:nvSpPr>
        <p:spPr>
          <a:xfrm>
            <a:off x="5440680" y="1005840"/>
            <a:ext cx="128016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04688" y="1042415"/>
            <a:ext cx="1280160" cy="338328"/>
          </a:xfrm>
          <a:prstGeom prst="rect">
            <a:avLst/>
          </a:prstGeom>
          <a:noFill/>
        </p:spPr>
        <p:txBody>
          <a:bodyPr wrap="square"/>
          <a:lstStyle/>
          <a:p>
            <a:pPr algn="l"/>
            <a:r>
              <a:rPr sz="1100" b="1" i="0">
                <a:solidFill>
                  <a:srgbClr val="F5A623"/>
                </a:solidFill>
                <a:latin typeface="Calibri"/>
              </a:rPr>
              <a:t>Variance %</a:t>
            </a:r>
          </a:p>
        </p:txBody>
      </p:sp>
      <p:sp>
        <p:nvSpPr>
          <p:cNvPr id="14" name="Rectangle 13"/>
          <p:cNvSpPr/>
          <p:nvPr/>
        </p:nvSpPr>
        <p:spPr>
          <a:xfrm>
            <a:off x="502920" y="1389888"/>
            <a:ext cx="201168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1435608"/>
            <a:ext cx="2011680" cy="338328"/>
          </a:xfrm>
          <a:prstGeom prst="rect">
            <a:avLst/>
          </a:prstGeom>
          <a:noFill/>
        </p:spPr>
        <p:txBody>
          <a:bodyPr wrap="square"/>
          <a:lstStyle/>
          <a:p>
            <a:pPr algn="l"/>
            <a:r>
              <a:rPr sz="1100" b="0" i="0">
                <a:solidFill>
                  <a:srgbClr val="428BCA"/>
                </a:solidFill>
                <a:latin typeface="Calibri"/>
              </a:rPr>
              <a:t>S1  Morphological</a:t>
            </a:r>
          </a:p>
        </p:txBody>
      </p:sp>
      <p:sp>
        <p:nvSpPr>
          <p:cNvPr id="16" name="Rectangle 15"/>
          <p:cNvSpPr/>
          <p:nvPr/>
        </p:nvSpPr>
        <p:spPr>
          <a:xfrm>
            <a:off x="2514600" y="1389888"/>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78608" y="1435608"/>
            <a:ext cx="1463040" cy="338328"/>
          </a:xfrm>
          <a:prstGeom prst="rect">
            <a:avLst/>
          </a:prstGeom>
          <a:noFill/>
        </p:spPr>
        <p:txBody>
          <a:bodyPr wrap="square"/>
          <a:lstStyle/>
          <a:p>
            <a:pPr algn="l"/>
            <a:r>
              <a:rPr sz="1100" b="0" i="0">
                <a:solidFill>
                  <a:srgbClr val="FFFFFF"/>
                </a:solidFill>
                <a:latin typeface="Calibri"/>
              </a:rPr>
              <a:t>917</a:t>
            </a:r>
          </a:p>
        </p:txBody>
      </p:sp>
      <p:sp>
        <p:nvSpPr>
          <p:cNvPr id="18" name="Rectangle 17"/>
          <p:cNvSpPr/>
          <p:nvPr/>
        </p:nvSpPr>
        <p:spPr>
          <a:xfrm>
            <a:off x="3977640" y="1389888"/>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41648" y="1435608"/>
            <a:ext cx="1463040" cy="338328"/>
          </a:xfrm>
          <a:prstGeom prst="rect">
            <a:avLst/>
          </a:prstGeom>
          <a:noFill/>
        </p:spPr>
        <p:txBody>
          <a:bodyPr wrap="square"/>
          <a:lstStyle/>
          <a:p>
            <a:pPr algn="l"/>
            <a:r>
              <a:rPr sz="1100" b="0" i="0">
                <a:solidFill>
                  <a:srgbClr val="FFFFFF"/>
                </a:solidFill>
                <a:latin typeface="Calibri"/>
              </a:rPr>
              <a:t>14</a:t>
            </a:r>
          </a:p>
        </p:txBody>
      </p:sp>
      <p:sp>
        <p:nvSpPr>
          <p:cNvPr id="20" name="Rectangle 19"/>
          <p:cNvSpPr/>
          <p:nvPr/>
        </p:nvSpPr>
        <p:spPr>
          <a:xfrm>
            <a:off x="5440680" y="1389888"/>
            <a:ext cx="128016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04688" y="1435608"/>
            <a:ext cx="1280160" cy="338328"/>
          </a:xfrm>
          <a:prstGeom prst="rect">
            <a:avLst/>
          </a:prstGeom>
          <a:noFill/>
        </p:spPr>
        <p:txBody>
          <a:bodyPr wrap="square"/>
          <a:lstStyle/>
          <a:p>
            <a:pPr algn="l"/>
            <a:r>
              <a:rPr sz="1100" b="0" i="0">
                <a:solidFill>
                  <a:srgbClr val="FFFFFF"/>
                </a:solidFill>
                <a:latin typeface="Calibri"/>
              </a:rPr>
              <a:t>95.0%</a:t>
            </a:r>
          </a:p>
        </p:txBody>
      </p:sp>
      <p:sp>
        <p:nvSpPr>
          <p:cNvPr id="22" name="Rectangle 21"/>
          <p:cNvSpPr/>
          <p:nvPr/>
        </p:nvSpPr>
        <p:spPr>
          <a:xfrm>
            <a:off x="502920" y="1773936"/>
            <a:ext cx="201168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1819656"/>
            <a:ext cx="2011680" cy="338328"/>
          </a:xfrm>
          <a:prstGeom prst="rect">
            <a:avLst/>
          </a:prstGeom>
          <a:noFill/>
        </p:spPr>
        <p:txBody>
          <a:bodyPr wrap="square"/>
          <a:lstStyle/>
          <a:p>
            <a:pPr algn="l"/>
            <a:r>
              <a:rPr sz="1100" b="0" i="0">
                <a:solidFill>
                  <a:srgbClr val="5CB85C"/>
                </a:solidFill>
                <a:latin typeface="Calibri"/>
              </a:rPr>
              <a:t>S2  Lexical Diversity</a:t>
            </a:r>
          </a:p>
        </p:txBody>
      </p:sp>
      <p:sp>
        <p:nvSpPr>
          <p:cNvPr id="24" name="Rectangle 23"/>
          <p:cNvSpPr/>
          <p:nvPr/>
        </p:nvSpPr>
        <p:spPr>
          <a:xfrm>
            <a:off x="2514600" y="1773936"/>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78608" y="1819656"/>
            <a:ext cx="1463040" cy="338328"/>
          </a:xfrm>
          <a:prstGeom prst="rect">
            <a:avLst/>
          </a:prstGeom>
          <a:noFill/>
        </p:spPr>
        <p:txBody>
          <a:bodyPr wrap="square"/>
          <a:lstStyle/>
          <a:p>
            <a:pPr algn="l"/>
            <a:r>
              <a:rPr sz="1100" b="0" i="0">
                <a:solidFill>
                  <a:srgbClr val="FFFFFF"/>
                </a:solidFill>
                <a:latin typeface="Calibri"/>
              </a:rPr>
              <a:t>441</a:t>
            </a:r>
          </a:p>
        </p:txBody>
      </p:sp>
      <p:sp>
        <p:nvSpPr>
          <p:cNvPr id="26" name="Rectangle 25"/>
          <p:cNvSpPr/>
          <p:nvPr/>
        </p:nvSpPr>
        <p:spPr>
          <a:xfrm>
            <a:off x="3977640" y="1773936"/>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41648" y="1819656"/>
            <a:ext cx="1463040" cy="338328"/>
          </a:xfrm>
          <a:prstGeom prst="rect">
            <a:avLst/>
          </a:prstGeom>
          <a:noFill/>
        </p:spPr>
        <p:txBody>
          <a:bodyPr wrap="square"/>
          <a:lstStyle/>
          <a:p>
            <a:pPr algn="l"/>
            <a:r>
              <a:rPr sz="1100" b="0" i="0">
                <a:solidFill>
                  <a:srgbClr val="FFFFFF"/>
                </a:solidFill>
                <a:latin typeface="Calibri"/>
              </a:rPr>
              <a:t>12</a:t>
            </a:r>
          </a:p>
        </p:txBody>
      </p:sp>
      <p:sp>
        <p:nvSpPr>
          <p:cNvPr id="28" name="Rectangle 27"/>
          <p:cNvSpPr/>
          <p:nvPr/>
        </p:nvSpPr>
        <p:spPr>
          <a:xfrm>
            <a:off x="5440680" y="1773936"/>
            <a:ext cx="128016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4688" y="1819656"/>
            <a:ext cx="1280160" cy="338328"/>
          </a:xfrm>
          <a:prstGeom prst="rect">
            <a:avLst/>
          </a:prstGeom>
          <a:noFill/>
        </p:spPr>
        <p:txBody>
          <a:bodyPr wrap="square"/>
          <a:lstStyle/>
          <a:p>
            <a:pPr algn="l"/>
            <a:r>
              <a:rPr sz="1100" b="0" i="0">
                <a:solidFill>
                  <a:srgbClr val="FFFFFF"/>
                </a:solidFill>
                <a:latin typeface="Calibri"/>
              </a:rPr>
              <a:t>95.5%</a:t>
            </a:r>
          </a:p>
        </p:txBody>
      </p:sp>
      <p:sp>
        <p:nvSpPr>
          <p:cNvPr id="30" name="Rectangle 29"/>
          <p:cNvSpPr/>
          <p:nvPr/>
        </p:nvSpPr>
        <p:spPr>
          <a:xfrm>
            <a:off x="502920" y="2157984"/>
            <a:ext cx="201168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6928" y="2203704"/>
            <a:ext cx="2011680" cy="338328"/>
          </a:xfrm>
          <a:prstGeom prst="rect">
            <a:avLst/>
          </a:prstGeom>
          <a:noFill/>
        </p:spPr>
        <p:txBody>
          <a:bodyPr wrap="square"/>
          <a:lstStyle/>
          <a:p>
            <a:pPr algn="l"/>
            <a:r>
              <a:rPr sz="1100" b="0" i="0">
                <a:solidFill>
                  <a:srgbClr val="F0AD4E"/>
                </a:solidFill>
                <a:latin typeface="Calibri"/>
              </a:rPr>
              <a:t>S3  Structural</a:t>
            </a:r>
          </a:p>
        </p:txBody>
      </p:sp>
      <p:sp>
        <p:nvSpPr>
          <p:cNvPr id="32" name="Rectangle 31"/>
          <p:cNvSpPr/>
          <p:nvPr/>
        </p:nvSpPr>
        <p:spPr>
          <a:xfrm>
            <a:off x="2514600" y="2157984"/>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78608" y="2203704"/>
            <a:ext cx="1463040" cy="338328"/>
          </a:xfrm>
          <a:prstGeom prst="rect">
            <a:avLst/>
          </a:prstGeom>
          <a:noFill/>
        </p:spPr>
        <p:txBody>
          <a:bodyPr wrap="square"/>
          <a:lstStyle/>
          <a:p>
            <a:pPr algn="l"/>
            <a:r>
              <a:rPr sz="1100" b="0" i="0">
                <a:solidFill>
                  <a:srgbClr val="FFFFFF"/>
                </a:solidFill>
                <a:latin typeface="Calibri"/>
              </a:rPr>
              <a:t>1,288</a:t>
            </a:r>
          </a:p>
        </p:txBody>
      </p:sp>
      <p:sp>
        <p:nvSpPr>
          <p:cNvPr id="34" name="Rectangle 33"/>
          <p:cNvSpPr/>
          <p:nvPr/>
        </p:nvSpPr>
        <p:spPr>
          <a:xfrm>
            <a:off x="3977640" y="2157984"/>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041648" y="2203704"/>
            <a:ext cx="1463040" cy="338328"/>
          </a:xfrm>
          <a:prstGeom prst="rect">
            <a:avLst/>
          </a:prstGeom>
          <a:noFill/>
        </p:spPr>
        <p:txBody>
          <a:bodyPr wrap="square"/>
          <a:lstStyle/>
          <a:p>
            <a:pPr algn="l"/>
            <a:r>
              <a:rPr sz="1100" b="0" i="0">
                <a:solidFill>
                  <a:srgbClr val="FFFFFF"/>
                </a:solidFill>
                <a:latin typeface="Calibri"/>
              </a:rPr>
              <a:t>13</a:t>
            </a:r>
          </a:p>
        </p:txBody>
      </p:sp>
      <p:sp>
        <p:nvSpPr>
          <p:cNvPr id="36" name="Rectangle 35"/>
          <p:cNvSpPr/>
          <p:nvPr/>
        </p:nvSpPr>
        <p:spPr>
          <a:xfrm>
            <a:off x="5440680" y="2157984"/>
            <a:ext cx="128016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504688" y="2203704"/>
            <a:ext cx="1280160" cy="338328"/>
          </a:xfrm>
          <a:prstGeom prst="rect">
            <a:avLst/>
          </a:prstGeom>
          <a:noFill/>
        </p:spPr>
        <p:txBody>
          <a:bodyPr wrap="square"/>
          <a:lstStyle/>
          <a:p>
            <a:pPr algn="l"/>
            <a:r>
              <a:rPr sz="1100" b="0" i="0">
                <a:solidFill>
                  <a:srgbClr val="FFFFFF"/>
                </a:solidFill>
                <a:latin typeface="Calibri"/>
              </a:rPr>
              <a:t>95.5%</a:t>
            </a:r>
          </a:p>
        </p:txBody>
      </p:sp>
      <p:sp>
        <p:nvSpPr>
          <p:cNvPr id="38" name="Rectangle 37"/>
          <p:cNvSpPr/>
          <p:nvPr/>
        </p:nvSpPr>
        <p:spPr>
          <a:xfrm>
            <a:off x="502920" y="2542032"/>
            <a:ext cx="201168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6928" y="2587752"/>
            <a:ext cx="2011680" cy="338328"/>
          </a:xfrm>
          <a:prstGeom prst="rect">
            <a:avLst/>
          </a:prstGeom>
          <a:noFill/>
        </p:spPr>
        <p:txBody>
          <a:bodyPr wrap="square"/>
          <a:lstStyle/>
          <a:p>
            <a:pPr algn="l"/>
            <a:r>
              <a:rPr sz="1100" b="0" i="0">
                <a:solidFill>
                  <a:srgbClr val="D9534F"/>
                </a:solidFill>
                <a:latin typeface="Calibri"/>
              </a:rPr>
              <a:t>S4  Info-Theoretic</a:t>
            </a:r>
          </a:p>
        </p:txBody>
      </p:sp>
      <p:sp>
        <p:nvSpPr>
          <p:cNvPr id="40" name="Rectangle 39"/>
          <p:cNvSpPr/>
          <p:nvPr/>
        </p:nvSpPr>
        <p:spPr>
          <a:xfrm>
            <a:off x="2514600" y="2542032"/>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78608" y="2587752"/>
            <a:ext cx="1463040" cy="338328"/>
          </a:xfrm>
          <a:prstGeom prst="rect">
            <a:avLst/>
          </a:prstGeom>
          <a:noFill/>
        </p:spPr>
        <p:txBody>
          <a:bodyPr wrap="square"/>
          <a:lstStyle/>
          <a:p>
            <a:pPr algn="l"/>
            <a:r>
              <a:rPr sz="1100" b="0" i="0">
                <a:solidFill>
                  <a:srgbClr val="FFFFFF"/>
                </a:solidFill>
                <a:latin typeface="Calibri"/>
              </a:rPr>
              <a:t>20</a:t>
            </a:r>
          </a:p>
        </p:txBody>
      </p:sp>
      <p:sp>
        <p:nvSpPr>
          <p:cNvPr id="42" name="Rectangle 41"/>
          <p:cNvSpPr/>
          <p:nvPr/>
        </p:nvSpPr>
        <p:spPr>
          <a:xfrm>
            <a:off x="3977640" y="2542032"/>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41648" y="2587752"/>
            <a:ext cx="1463040" cy="338328"/>
          </a:xfrm>
          <a:prstGeom prst="rect">
            <a:avLst/>
          </a:prstGeom>
          <a:noFill/>
        </p:spPr>
        <p:txBody>
          <a:bodyPr wrap="square"/>
          <a:lstStyle/>
          <a:p>
            <a:pPr algn="l"/>
            <a:r>
              <a:rPr sz="1100" b="0" i="0">
                <a:solidFill>
                  <a:srgbClr val="FFFFFF"/>
                </a:solidFill>
                <a:latin typeface="Calibri"/>
              </a:rPr>
              <a:t>4</a:t>
            </a:r>
          </a:p>
        </p:txBody>
      </p:sp>
      <p:sp>
        <p:nvSpPr>
          <p:cNvPr id="44" name="Rectangle 43"/>
          <p:cNvSpPr/>
          <p:nvPr/>
        </p:nvSpPr>
        <p:spPr>
          <a:xfrm>
            <a:off x="5440680" y="2542032"/>
            <a:ext cx="128016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504688" y="2587752"/>
            <a:ext cx="1280160" cy="338328"/>
          </a:xfrm>
          <a:prstGeom prst="rect">
            <a:avLst/>
          </a:prstGeom>
          <a:noFill/>
        </p:spPr>
        <p:txBody>
          <a:bodyPr wrap="square"/>
          <a:lstStyle/>
          <a:p>
            <a:pPr algn="l"/>
            <a:r>
              <a:rPr sz="1100" b="0" i="0">
                <a:solidFill>
                  <a:srgbClr val="FFFFFF"/>
                </a:solidFill>
                <a:latin typeface="Calibri"/>
              </a:rPr>
              <a:t>98.6%</a:t>
            </a:r>
          </a:p>
        </p:txBody>
      </p:sp>
      <p:sp>
        <p:nvSpPr>
          <p:cNvPr id="46" name="Rectangle 45"/>
          <p:cNvSpPr/>
          <p:nvPr/>
        </p:nvSpPr>
        <p:spPr>
          <a:xfrm>
            <a:off x="502920" y="2926080"/>
            <a:ext cx="201168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6928" y="2971800"/>
            <a:ext cx="2011680" cy="338328"/>
          </a:xfrm>
          <a:prstGeom prst="rect">
            <a:avLst/>
          </a:prstGeom>
          <a:noFill/>
        </p:spPr>
        <p:txBody>
          <a:bodyPr wrap="square"/>
          <a:lstStyle/>
          <a:p>
            <a:pPr algn="l"/>
            <a:r>
              <a:rPr sz="1100" b="0" i="0">
                <a:solidFill>
                  <a:srgbClr val="9B59B6"/>
                </a:solidFill>
                <a:latin typeface="Calibri"/>
              </a:rPr>
              <a:t>S5  Cross-Level</a:t>
            </a:r>
          </a:p>
        </p:txBody>
      </p:sp>
      <p:sp>
        <p:nvSpPr>
          <p:cNvPr id="48" name="Rectangle 47"/>
          <p:cNvSpPr/>
          <p:nvPr/>
        </p:nvSpPr>
        <p:spPr>
          <a:xfrm>
            <a:off x="2514600" y="2926080"/>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578608" y="2971800"/>
            <a:ext cx="1463040" cy="338328"/>
          </a:xfrm>
          <a:prstGeom prst="rect">
            <a:avLst/>
          </a:prstGeom>
          <a:noFill/>
        </p:spPr>
        <p:txBody>
          <a:bodyPr wrap="square"/>
          <a:lstStyle/>
          <a:p>
            <a:pPr algn="l"/>
            <a:r>
              <a:rPr sz="1100" b="0" i="0">
                <a:solidFill>
                  <a:srgbClr val="FFFFFF"/>
                </a:solidFill>
                <a:latin typeface="Calibri"/>
              </a:rPr>
              <a:t>260</a:t>
            </a:r>
          </a:p>
        </p:txBody>
      </p:sp>
      <p:sp>
        <p:nvSpPr>
          <p:cNvPr id="50" name="Rectangle 49"/>
          <p:cNvSpPr/>
          <p:nvPr/>
        </p:nvSpPr>
        <p:spPr>
          <a:xfrm>
            <a:off x="3977640" y="2926080"/>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041648" y="2971800"/>
            <a:ext cx="1463040" cy="338328"/>
          </a:xfrm>
          <a:prstGeom prst="rect">
            <a:avLst/>
          </a:prstGeom>
          <a:noFill/>
        </p:spPr>
        <p:txBody>
          <a:bodyPr wrap="square"/>
          <a:lstStyle/>
          <a:p>
            <a:pPr algn="l"/>
            <a:r>
              <a:rPr sz="1100" b="0" i="0">
                <a:solidFill>
                  <a:srgbClr val="FFFFFF"/>
                </a:solidFill>
                <a:latin typeface="Calibri"/>
              </a:rPr>
              <a:t>9</a:t>
            </a:r>
          </a:p>
        </p:txBody>
      </p:sp>
      <p:sp>
        <p:nvSpPr>
          <p:cNvPr id="52" name="Rectangle 51"/>
          <p:cNvSpPr/>
          <p:nvPr/>
        </p:nvSpPr>
        <p:spPr>
          <a:xfrm>
            <a:off x="5440680" y="2926080"/>
            <a:ext cx="128016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504688" y="2971800"/>
            <a:ext cx="1280160" cy="338328"/>
          </a:xfrm>
          <a:prstGeom prst="rect">
            <a:avLst/>
          </a:prstGeom>
          <a:noFill/>
        </p:spPr>
        <p:txBody>
          <a:bodyPr wrap="square"/>
          <a:lstStyle/>
          <a:p>
            <a:pPr algn="l"/>
            <a:r>
              <a:rPr sz="1100" b="0" i="0">
                <a:solidFill>
                  <a:srgbClr val="FFFFFF"/>
                </a:solidFill>
                <a:latin typeface="Calibri"/>
              </a:rPr>
              <a:t>96.1%</a:t>
            </a:r>
          </a:p>
        </p:txBody>
      </p:sp>
      <p:sp>
        <p:nvSpPr>
          <p:cNvPr id="54" name="Rectangle 53"/>
          <p:cNvSpPr/>
          <p:nvPr/>
        </p:nvSpPr>
        <p:spPr>
          <a:xfrm>
            <a:off x="502920" y="3310128"/>
            <a:ext cx="201168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66928" y="3355848"/>
            <a:ext cx="2011680" cy="338328"/>
          </a:xfrm>
          <a:prstGeom prst="rect">
            <a:avLst/>
          </a:prstGeom>
          <a:noFill/>
        </p:spPr>
        <p:txBody>
          <a:bodyPr wrap="square"/>
          <a:lstStyle/>
          <a:p>
            <a:pPr algn="l"/>
            <a:r>
              <a:rPr sz="1100" b="1" i="0">
                <a:solidFill>
                  <a:srgbClr val="F5A623"/>
                </a:solidFill>
                <a:latin typeface="Calibri"/>
              </a:rPr>
              <a:t>TOTAL</a:t>
            </a:r>
          </a:p>
        </p:txBody>
      </p:sp>
      <p:sp>
        <p:nvSpPr>
          <p:cNvPr id="56" name="Rectangle 55"/>
          <p:cNvSpPr/>
          <p:nvPr/>
        </p:nvSpPr>
        <p:spPr>
          <a:xfrm>
            <a:off x="2514600" y="3310128"/>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78608" y="3355848"/>
            <a:ext cx="1463040" cy="338328"/>
          </a:xfrm>
          <a:prstGeom prst="rect">
            <a:avLst/>
          </a:prstGeom>
          <a:noFill/>
        </p:spPr>
        <p:txBody>
          <a:bodyPr wrap="square"/>
          <a:lstStyle/>
          <a:p>
            <a:pPr algn="l"/>
            <a:r>
              <a:rPr sz="1100" b="1" i="0">
                <a:solidFill>
                  <a:srgbClr val="FFFFFF"/>
                </a:solidFill>
                <a:latin typeface="Calibri"/>
              </a:rPr>
              <a:t>2,926</a:t>
            </a:r>
          </a:p>
        </p:txBody>
      </p:sp>
      <p:sp>
        <p:nvSpPr>
          <p:cNvPr id="58" name="Rectangle 57"/>
          <p:cNvSpPr/>
          <p:nvPr/>
        </p:nvSpPr>
        <p:spPr>
          <a:xfrm>
            <a:off x="3977640" y="3310128"/>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041648" y="3355848"/>
            <a:ext cx="1463040" cy="338328"/>
          </a:xfrm>
          <a:prstGeom prst="rect">
            <a:avLst/>
          </a:prstGeom>
          <a:noFill/>
        </p:spPr>
        <p:txBody>
          <a:bodyPr wrap="square"/>
          <a:lstStyle/>
          <a:p>
            <a:pPr algn="l"/>
            <a:r>
              <a:rPr sz="1100" b="1" i="0">
                <a:solidFill>
                  <a:srgbClr val="FFFFFF"/>
                </a:solidFill>
                <a:latin typeface="Calibri"/>
              </a:rPr>
              <a:t>52</a:t>
            </a:r>
          </a:p>
        </p:txBody>
      </p:sp>
      <p:sp>
        <p:nvSpPr>
          <p:cNvPr id="60" name="Rectangle 59"/>
          <p:cNvSpPr/>
          <p:nvPr/>
        </p:nvSpPr>
        <p:spPr>
          <a:xfrm>
            <a:off x="5440680" y="3310128"/>
            <a:ext cx="128016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504688" y="3355848"/>
            <a:ext cx="1280160" cy="338328"/>
          </a:xfrm>
          <a:prstGeom prst="rect">
            <a:avLst/>
          </a:prstGeom>
          <a:noFill/>
        </p:spPr>
        <p:txBody>
          <a:bodyPr wrap="square"/>
          <a:lstStyle/>
          <a:p>
            <a:pPr algn="l"/>
            <a:r>
              <a:rPr sz="1100" b="1" i="0">
                <a:solidFill>
                  <a:srgbClr val="FFFFFF"/>
                </a:solidFill>
                <a:latin typeface="Calibri"/>
              </a:rPr>
              <a:t>—</a:t>
            </a:r>
          </a:p>
        </p:txBody>
      </p:sp>
      <p:sp>
        <p:nvSpPr>
          <p:cNvPr id="62" name="Rectangle 61"/>
          <p:cNvSpPr/>
          <p:nvPr/>
        </p:nvSpPr>
        <p:spPr>
          <a:xfrm>
            <a:off x="6995160" y="1005840"/>
            <a:ext cx="4800600"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132320" y="1078992"/>
            <a:ext cx="4526280" cy="3017520"/>
          </a:xfrm>
          <a:prstGeom prst="rect">
            <a:avLst/>
          </a:prstGeom>
          <a:noFill/>
        </p:spPr>
        <p:txBody>
          <a:bodyPr wrap="square">
            <a:spAutoFit/>
          </a:bodyPr>
          <a:lstStyle/>
          <a:p>
            <a:pPr algn="l"/>
            <a:r>
              <a:rPr sz="1300" b="1" i="0">
                <a:solidFill>
                  <a:srgbClr val="F5A623"/>
                </a:solidFill>
                <a:latin typeface="Calibri"/>
              </a:rPr>
              <a:t>Design Rationale</a:t>
            </a:r>
          </a:p>
          <a:p>
            <a:pPr algn="l"/>
            <a:endParaRPr sz="1300" b="1" i="0">
              <a:solidFill>
                <a:srgbClr val="F5A623"/>
              </a:solidFill>
              <a:latin typeface="Calibri"/>
            </a:endParaRPr>
          </a:p>
          <a:p>
            <a:pPr algn="l"/>
            <a:r>
              <a:rPr sz="1200" b="1" i="0">
                <a:solidFill>
                  <a:srgbClr val="FFFFFF"/>
                </a:solidFill>
                <a:latin typeface="Calibri"/>
              </a:rPr>
              <a:t>  Why stratum-wise?  NOT global PCA:</a:t>
            </a:r>
          </a:p>
          <a:p>
            <a:pPr algn="l"/>
            <a:endParaRPr sz="1200" b="1" i="0">
              <a:solidFill>
                <a:srgbClr val="FFFFFF"/>
              </a:solidFill>
              <a:latin typeface="Calibri"/>
            </a:endParaRPr>
          </a:p>
          <a:p>
            <a:pPr algn="l"/>
            <a:r>
              <a:rPr sz="1100" b="0" i="0">
                <a:solidFill>
                  <a:srgbClr val="CCD6E8"/>
                </a:solidFill>
                <a:latin typeface="Calibri"/>
              </a:rPr>
              <a:t> •  F ≫ N_obs  globally (2,926 features vs. 24 samples)</a:t>
            </a:r>
          </a:p>
          <a:p>
            <a:pPr algn="l"/>
            <a:r>
              <a:rPr sz="1100" b="0" i="0">
                <a:solidFill>
                  <a:srgbClr val="CCD6E8"/>
                </a:solidFill>
                <a:latin typeface="Calibri"/>
              </a:rPr>
              <a:t>    Global PCA is rank-23 at best: degenerate</a:t>
            </a:r>
          </a:p>
          <a:p>
            <a:pPr algn="l"/>
            <a:r>
              <a:rPr sz="1100" b="0" i="0">
                <a:solidFill>
                  <a:srgbClr val="CCD6E8"/>
                </a:solidFill>
                <a:latin typeface="Calibri"/>
              </a:rPr>
              <a:t> •  Each stratum = coherent semantic domain</a:t>
            </a:r>
          </a:p>
          <a:p>
            <a:pPr algn="l"/>
            <a:r>
              <a:rPr sz="1100" b="0" i="0">
                <a:solidFill>
                  <a:srgbClr val="CCD6E8"/>
                </a:solidFill>
                <a:latin typeface="Calibri"/>
              </a:rPr>
              <a:t>    PCs remain linguistically interpretable</a:t>
            </a:r>
          </a:p>
          <a:p>
            <a:pPr algn="l"/>
            <a:r>
              <a:rPr sz="1100" b="0" i="0">
                <a:solidFill>
                  <a:srgbClr val="CCD6E8"/>
                </a:solidFill>
                <a:latin typeface="Calibri"/>
              </a:rPr>
              <a:t> •  S4: 20 features → 4 PCs (98.6% variance)</a:t>
            </a:r>
          </a:p>
          <a:p>
            <a:pPr algn="l"/>
            <a:r>
              <a:rPr sz="1100" b="0" i="0">
                <a:solidFill>
                  <a:srgbClr val="CCD6E8"/>
                </a:solidFill>
                <a:latin typeface="Calibri"/>
              </a:rPr>
              <a:t>    Entropy + Zipf are highly correlated</a:t>
            </a:r>
          </a:p>
          <a:p>
            <a:pPr algn="l"/>
            <a:endParaRPr sz="1100" b="0" i="0">
              <a:solidFill>
                <a:srgbClr val="CCD6E8"/>
              </a:solidFill>
              <a:latin typeface="Calibri"/>
            </a:endParaRPr>
          </a:p>
          <a:p>
            <a:pPr algn="l"/>
            <a:r>
              <a:rPr sz="1200" b="1" i="0">
                <a:solidFill>
                  <a:srgbClr val="FFFFFF"/>
                </a:solidFill>
                <a:latin typeface="Calibri"/>
              </a:rPr>
              <a:t>  config.yaml settings:</a:t>
            </a:r>
          </a:p>
          <a:p>
            <a:pPr algn="l"/>
            <a:r>
              <a:rPr sz="1100" b="0" i="1">
                <a:solidFill>
                  <a:srgbClr val="CCD6E8"/>
                </a:solidFill>
                <a:latin typeface="Calibri"/>
              </a:rPr>
              <a:t>  variance_threshold: 0.95</a:t>
            </a:r>
          </a:p>
          <a:p>
            <a:pPr algn="l"/>
            <a:r>
              <a:rPr sz="1100" b="0" i="1">
                <a:solidFill>
                  <a:srgbClr val="CCD6E8"/>
                </a:solidFill>
                <a:latin typeface="Calibri"/>
              </a:rPr>
              <a:t>  max_pca_components: 20  (hard cap)</a:t>
            </a:r>
          </a:p>
          <a:p>
            <a:pPr algn="l"/>
            <a:r>
              <a:rPr sz="1100" b="0" i="0">
                <a:solidFill>
                  <a:srgbClr val="CCD6E8"/>
                </a:solidFill>
                <a:latin typeface="Calibri"/>
              </a:rPr>
              <a:t>  N_obs = 24 language samples for PCA fit</a:t>
            </a:r>
          </a:p>
        </p:txBody>
      </p:sp>
      <p:sp>
        <p:nvSpPr>
          <p:cNvPr id="64" name="Rectangle 63"/>
          <p:cNvSpPr/>
          <p:nvPr/>
        </p:nvSpPr>
        <p:spPr>
          <a:xfrm>
            <a:off x="502920" y="4343400"/>
            <a:ext cx="11274552" cy="22860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277-Dimensional Fingerprint: The Linguistic DNA of a Dataset</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51560"/>
            <a:ext cx="1964144" cy="64008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124712"/>
            <a:ext cx="1900136" cy="502920"/>
          </a:xfrm>
          <a:prstGeom prst="rect">
            <a:avLst/>
          </a:prstGeom>
          <a:noFill/>
        </p:spPr>
        <p:txBody>
          <a:bodyPr wrap="square"/>
          <a:lstStyle/>
          <a:p>
            <a:pPr algn="ctr"/>
            <a:r>
              <a:rPr sz="900" b="1" i="0">
                <a:solidFill>
                  <a:srgbClr val="FFFFFF"/>
                </a:solidFill>
                <a:latin typeface="Calibri"/>
              </a:rPr>
              <a:t>S1
70d</a:t>
            </a:r>
          </a:p>
        </p:txBody>
      </p:sp>
      <p:sp>
        <p:nvSpPr>
          <p:cNvPr id="7" name="Rectangle 6"/>
          <p:cNvSpPr/>
          <p:nvPr/>
        </p:nvSpPr>
        <p:spPr>
          <a:xfrm>
            <a:off x="2467064" y="1051560"/>
            <a:ext cx="1683552" cy="64008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2784" y="1124712"/>
            <a:ext cx="1619544" cy="502920"/>
          </a:xfrm>
          <a:prstGeom prst="rect">
            <a:avLst/>
          </a:prstGeom>
          <a:noFill/>
        </p:spPr>
        <p:txBody>
          <a:bodyPr wrap="square"/>
          <a:lstStyle/>
          <a:p>
            <a:pPr algn="ctr"/>
            <a:r>
              <a:rPr sz="900" b="1" i="0">
                <a:solidFill>
                  <a:srgbClr val="FFFFFF"/>
                </a:solidFill>
                <a:latin typeface="Calibri"/>
              </a:rPr>
              <a:t>S2
60d</a:t>
            </a:r>
          </a:p>
        </p:txBody>
      </p:sp>
      <p:sp>
        <p:nvSpPr>
          <p:cNvPr id="9" name="Rectangle 8"/>
          <p:cNvSpPr/>
          <p:nvPr/>
        </p:nvSpPr>
        <p:spPr>
          <a:xfrm>
            <a:off x="4150616" y="1051560"/>
            <a:ext cx="1823848" cy="64008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96336" y="1124712"/>
            <a:ext cx="1759840" cy="502920"/>
          </a:xfrm>
          <a:prstGeom prst="rect">
            <a:avLst/>
          </a:prstGeom>
          <a:noFill/>
        </p:spPr>
        <p:txBody>
          <a:bodyPr wrap="square"/>
          <a:lstStyle/>
          <a:p>
            <a:pPr algn="ctr"/>
            <a:r>
              <a:rPr sz="900" b="1" i="0">
                <a:solidFill>
                  <a:srgbClr val="FFFFFF"/>
                </a:solidFill>
                <a:latin typeface="Calibri"/>
              </a:rPr>
              <a:t>S3
65d</a:t>
            </a:r>
          </a:p>
        </p:txBody>
      </p:sp>
      <p:sp>
        <p:nvSpPr>
          <p:cNvPr id="11" name="Rectangle 10"/>
          <p:cNvSpPr/>
          <p:nvPr/>
        </p:nvSpPr>
        <p:spPr>
          <a:xfrm>
            <a:off x="5974465" y="1051560"/>
            <a:ext cx="561184" cy="64008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535649" y="1051560"/>
            <a:ext cx="1262664" cy="6400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1369" y="1124712"/>
            <a:ext cx="1198656" cy="502920"/>
          </a:xfrm>
          <a:prstGeom prst="rect">
            <a:avLst/>
          </a:prstGeom>
          <a:noFill/>
        </p:spPr>
        <p:txBody>
          <a:bodyPr wrap="square"/>
          <a:lstStyle/>
          <a:p>
            <a:pPr algn="ctr"/>
            <a:r>
              <a:rPr sz="900" b="1" i="0">
                <a:solidFill>
                  <a:srgbClr val="FFFFFF"/>
                </a:solidFill>
                <a:latin typeface="Calibri"/>
              </a:rPr>
              <a:t>S5
45d</a:t>
            </a:r>
          </a:p>
        </p:txBody>
      </p:sp>
      <p:sp>
        <p:nvSpPr>
          <p:cNvPr id="14" name="Rectangle 13"/>
          <p:cNvSpPr/>
          <p:nvPr/>
        </p:nvSpPr>
        <p:spPr>
          <a:xfrm>
            <a:off x="7798313" y="1051560"/>
            <a:ext cx="477006" cy="64008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737360"/>
            <a:ext cx="7772400" cy="228600"/>
          </a:xfrm>
          <a:prstGeom prst="rect">
            <a:avLst/>
          </a:prstGeom>
          <a:noFill/>
        </p:spPr>
        <p:txBody>
          <a:bodyPr wrap="square"/>
          <a:lstStyle/>
          <a:p>
            <a:pPr algn="l"/>
            <a:r>
              <a:rPr sz="1000" b="0" i="1">
                <a:solidFill>
                  <a:srgbClr val="CCD6E8"/>
                </a:solidFill>
                <a:latin typeface="Calibri"/>
              </a:rPr>
              <a:t>Total: 277 dimensions   (OrderedDict[str, float]   —   keys are ordered by stratum)</a:t>
            </a:r>
          </a:p>
        </p:txBody>
      </p:sp>
      <p:sp>
        <p:nvSpPr>
          <p:cNvPr id="16" name="Rectangle 15"/>
          <p:cNvSpPr/>
          <p:nvPr/>
        </p:nvSpPr>
        <p:spPr>
          <a:xfrm>
            <a:off x="8412480" y="1005840"/>
            <a:ext cx="3383280" cy="19202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12480" y="1005840"/>
            <a:ext cx="14630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58200" y="1024128"/>
            <a:ext cx="1417320" cy="213055"/>
          </a:xfrm>
          <a:prstGeom prst="rect">
            <a:avLst/>
          </a:prstGeom>
          <a:noFill/>
        </p:spPr>
        <p:txBody>
          <a:bodyPr wrap="square"/>
          <a:lstStyle/>
          <a:p>
            <a:pPr algn="l"/>
            <a:r>
              <a:rPr sz="900" b="1" i="0">
                <a:solidFill>
                  <a:srgbClr val="F5A623"/>
                </a:solidFill>
                <a:latin typeface="Calibri"/>
              </a:rPr>
              <a:t>Stratum</a:t>
            </a:r>
          </a:p>
        </p:txBody>
      </p:sp>
      <p:sp>
        <p:nvSpPr>
          <p:cNvPr id="19" name="Rectangle 18"/>
          <p:cNvSpPr/>
          <p:nvPr/>
        </p:nvSpPr>
        <p:spPr>
          <a:xfrm>
            <a:off x="9875520" y="1005840"/>
            <a:ext cx="45720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21240" y="1024128"/>
            <a:ext cx="411480" cy="213055"/>
          </a:xfrm>
          <a:prstGeom prst="rect">
            <a:avLst/>
          </a:prstGeom>
          <a:noFill/>
        </p:spPr>
        <p:txBody>
          <a:bodyPr wrap="square"/>
          <a:lstStyle/>
          <a:p>
            <a:pPr algn="l"/>
            <a:r>
              <a:rPr sz="900" b="1" i="0">
                <a:solidFill>
                  <a:srgbClr val="F5A623"/>
                </a:solidFill>
                <a:latin typeface="Calibri"/>
              </a:rPr>
              <a:t>PCs</a:t>
            </a:r>
          </a:p>
        </p:txBody>
      </p:sp>
      <p:sp>
        <p:nvSpPr>
          <p:cNvPr id="21" name="Rectangle 20"/>
          <p:cNvSpPr/>
          <p:nvPr/>
        </p:nvSpPr>
        <p:spPr>
          <a:xfrm>
            <a:off x="10332720" y="1005840"/>
            <a:ext cx="73152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78440" y="1024128"/>
            <a:ext cx="685800" cy="213055"/>
          </a:xfrm>
          <a:prstGeom prst="rect">
            <a:avLst/>
          </a:prstGeom>
          <a:noFill/>
        </p:spPr>
        <p:txBody>
          <a:bodyPr wrap="square"/>
          <a:lstStyle/>
          <a:p>
            <a:pPr algn="l"/>
            <a:r>
              <a:rPr sz="900" b="1" i="0">
                <a:solidFill>
                  <a:srgbClr val="F5A623"/>
                </a:solidFill>
                <a:latin typeface="Calibri"/>
              </a:rPr>
              <a:t>x5 stats</a:t>
            </a:r>
          </a:p>
        </p:txBody>
      </p:sp>
      <p:sp>
        <p:nvSpPr>
          <p:cNvPr id="23" name="Rectangle 22"/>
          <p:cNvSpPr/>
          <p:nvPr/>
        </p:nvSpPr>
        <p:spPr>
          <a:xfrm>
            <a:off x="11064240" y="1005840"/>
            <a:ext cx="5486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09960" y="1024128"/>
            <a:ext cx="502920" cy="213055"/>
          </a:xfrm>
          <a:prstGeom prst="rect">
            <a:avLst/>
          </a:prstGeom>
          <a:noFill/>
        </p:spPr>
        <p:txBody>
          <a:bodyPr wrap="square"/>
          <a:lstStyle/>
          <a:p>
            <a:pPr algn="l"/>
            <a:r>
              <a:rPr sz="900" b="1" i="0">
                <a:solidFill>
                  <a:srgbClr val="F5A623"/>
                </a:solidFill>
                <a:latin typeface="Calibri"/>
              </a:rPr>
              <a:t>=Dims</a:t>
            </a:r>
          </a:p>
        </p:txBody>
      </p:sp>
      <p:sp>
        <p:nvSpPr>
          <p:cNvPr id="25" name="Rectangle 24"/>
          <p:cNvSpPr/>
          <p:nvPr/>
        </p:nvSpPr>
        <p:spPr>
          <a:xfrm>
            <a:off x="8412480" y="1218895"/>
            <a:ext cx="14630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58200" y="1237183"/>
            <a:ext cx="1417320" cy="213055"/>
          </a:xfrm>
          <a:prstGeom prst="rect">
            <a:avLst/>
          </a:prstGeom>
          <a:noFill/>
        </p:spPr>
        <p:txBody>
          <a:bodyPr wrap="square"/>
          <a:lstStyle/>
          <a:p>
            <a:pPr algn="l"/>
            <a:r>
              <a:rPr sz="900" b="0" i="0">
                <a:solidFill>
                  <a:srgbClr val="CCD6E8"/>
                </a:solidFill>
                <a:latin typeface="Calibri"/>
              </a:rPr>
              <a:t>S1 Morphological</a:t>
            </a:r>
          </a:p>
        </p:txBody>
      </p:sp>
      <p:sp>
        <p:nvSpPr>
          <p:cNvPr id="27" name="Rectangle 26"/>
          <p:cNvSpPr/>
          <p:nvPr/>
        </p:nvSpPr>
        <p:spPr>
          <a:xfrm>
            <a:off x="9875520" y="1218895"/>
            <a:ext cx="45720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921240" y="1237183"/>
            <a:ext cx="411480" cy="213055"/>
          </a:xfrm>
          <a:prstGeom prst="rect">
            <a:avLst/>
          </a:prstGeom>
          <a:noFill/>
        </p:spPr>
        <p:txBody>
          <a:bodyPr wrap="square"/>
          <a:lstStyle/>
          <a:p>
            <a:pPr algn="l"/>
            <a:r>
              <a:rPr sz="900" b="0" i="0">
                <a:solidFill>
                  <a:srgbClr val="CCD6E8"/>
                </a:solidFill>
                <a:latin typeface="Calibri"/>
              </a:rPr>
              <a:t>14</a:t>
            </a:r>
          </a:p>
        </p:txBody>
      </p:sp>
      <p:sp>
        <p:nvSpPr>
          <p:cNvPr id="29" name="Rectangle 28"/>
          <p:cNvSpPr/>
          <p:nvPr/>
        </p:nvSpPr>
        <p:spPr>
          <a:xfrm>
            <a:off x="10332720" y="1218895"/>
            <a:ext cx="73152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378440" y="1237183"/>
            <a:ext cx="685800" cy="213055"/>
          </a:xfrm>
          <a:prstGeom prst="rect">
            <a:avLst/>
          </a:prstGeom>
          <a:noFill/>
        </p:spPr>
        <p:txBody>
          <a:bodyPr wrap="square"/>
          <a:lstStyle/>
          <a:p>
            <a:pPr algn="l"/>
            <a:r>
              <a:rPr sz="900" b="0" i="0">
                <a:solidFill>
                  <a:srgbClr val="CCD6E8"/>
                </a:solidFill>
                <a:latin typeface="Calibri"/>
              </a:rPr>
              <a:t>5</a:t>
            </a:r>
          </a:p>
        </p:txBody>
      </p:sp>
      <p:sp>
        <p:nvSpPr>
          <p:cNvPr id="31" name="Rectangle 30"/>
          <p:cNvSpPr/>
          <p:nvPr/>
        </p:nvSpPr>
        <p:spPr>
          <a:xfrm>
            <a:off x="11064240" y="1218895"/>
            <a:ext cx="5486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109960" y="1237183"/>
            <a:ext cx="502920" cy="213055"/>
          </a:xfrm>
          <a:prstGeom prst="rect">
            <a:avLst/>
          </a:prstGeom>
          <a:noFill/>
        </p:spPr>
        <p:txBody>
          <a:bodyPr wrap="square"/>
          <a:lstStyle/>
          <a:p>
            <a:pPr algn="l"/>
            <a:r>
              <a:rPr sz="900" b="0" i="0">
                <a:solidFill>
                  <a:srgbClr val="CCD6E8"/>
                </a:solidFill>
                <a:latin typeface="Calibri"/>
              </a:rPr>
              <a:t>70</a:t>
            </a:r>
          </a:p>
        </p:txBody>
      </p:sp>
      <p:sp>
        <p:nvSpPr>
          <p:cNvPr id="33" name="Rectangle 32"/>
          <p:cNvSpPr/>
          <p:nvPr/>
        </p:nvSpPr>
        <p:spPr>
          <a:xfrm>
            <a:off x="8412480" y="1431950"/>
            <a:ext cx="14630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58200" y="1450238"/>
            <a:ext cx="1417320" cy="213055"/>
          </a:xfrm>
          <a:prstGeom prst="rect">
            <a:avLst/>
          </a:prstGeom>
          <a:noFill/>
        </p:spPr>
        <p:txBody>
          <a:bodyPr wrap="square"/>
          <a:lstStyle/>
          <a:p>
            <a:pPr algn="l"/>
            <a:r>
              <a:rPr sz="900" b="0" i="0">
                <a:solidFill>
                  <a:srgbClr val="CCD6E8"/>
                </a:solidFill>
                <a:latin typeface="Calibri"/>
              </a:rPr>
              <a:t>S2 Lexical</a:t>
            </a:r>
          </a:p>
        </p:txBody>
      </p:sp>
      <p:sp>
        <p:nvSpPr>
          <p:cNvPr id="35" name="Rectangle 34"/>
          <p:cNvSpPr/>
          <p:nvPr/>
        </p:nvSpPr>
        <p:spPr>
          <a:xfrm>
            <a:off x="9875520" y="1431950"/>
            <a:ext cx="45720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21240" y="1450238"/>
            <a:ext cx="411480" cy="213055"/>
          </a:xfrm>
          <a:prstGeom prst="rect">
            <a:avLst/>
          </a:prstGeom>
          <a:noFill/>
        </p:spPr>
        <p:txBody>
          <a:bodyPr wrap="square"/>
          <a:lstStyle/>
          <a:p>
            <a:pPr algn="l"/>
            <a:r>
              <a:rPr sz="900" b="0" i="0">
                <a:solidFill>
                  <a:srgbClr val="CCD6E8"/>
                </a:solidFill>
                <a:latin typeface="Calibri"/>
              </a:rPr>
              <a:t>12</a:t>
            </a:r>
          </a:p>
        </p:txBody>
      </p:sp>
      <p:sp>
        <p:nvSpPr>
          <p:cNvPr id="37" name="Rectangle 36"/>
          <p:cNvSpPr/>
          <p:nvPr/>
        </p:nvSpPr>
        <p:spPr>
          <a:xfrm>
            <a:off x="10332720" y="1431950"/>
            <a:ext cx="73152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378440" y="1450238"/>
            <a:ext cx="685800" cy="213055"/>
          </a:xfrm>
          <a:prstGeom prst="rect">
            <a:avLst/>
          </a:prstGeom>
          <a:noFill/>
        </p:spPr>
        <p:txBody>
          <a:bodyPr wrap="square"/>
          <a:lstStyle/>
          <a:p>
            <a:pPr algn="l"/>
            <a:r>
              <a:rPr sz="900" b="0" i="0">
                <a:solidFill>
                  <a:srgbClr val="CCD6E8"/>
                </a:solidFill>
                <a:latin typeface="Calibri"/>
              </a:rPr>
              <a:t>5</a:t>
            </a:r>
          </a:p>
        </p:txBody>
      </p:sp>
      <p:sp>
        <p:nvSpPr>
          <p:cNvPr id="39" name="Rectangle 38"/>
          <p:cNvSpPr/>
          <p:nvPr/>
        </p:nvSpPr>
        <p:spPr>
          <a:xfrm>
            <a:off x="11064240" y="1431950"/>
            <a:ext cx="5486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109960" y="1450238"/>
            <a:ext cx="502920" cy="213055"/>
          </a:xfrm>
          <a:prstGeom prst="rect">
            <a:avLst/>
          </a:prstGeom>
          <a:noFill/>
        </p:spPr>
        <p:txBody>
          <a:bodyPr wrap="square"/>
          <a:lstStyle/>
          <a:p>
            <a:pPr algn="l"/>
            <a:r>
              <a:rPr sz="900" b="0" i="0">
                <a:solidFill>
                  <a:srgbClr val="CCD6E8"/>
                </a:solidFill>
                <a:latin typeface="Calibri"/>
              </a:rPr>
              <a:t>60</a:t>
            </a:r>
          </a:p>
        </p:txBody>
      </p:sp>
      <p:sp>
        <p:nvSpPr>
          <p:cNvPr id="41" name="Rectangle 40"/>
          <p:cNvSpPr/>
          <p:nvPr/>
        </p:nvSpPr>
        <p:spPr>
          <a:xfrm>
            <a:off x="8412480" y="1645005"/>
            <a:ext cx="14630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58200" y="1663293"/>
            <a:ext cx="1417320" cy="213055"/>
          </a:xfrm>
          <a:prstGeom prst="rect">
            <a:avLst/>
          </a:prstGeom>
          <a:noFill/>
        </p:spPr>
        <p:txBody>
          <a:bodyPr wrap="square"/>
          <a:lstStyle/>
          <a:p>
            <a:pPr algn="l"/>
            <a:r>
              <a:rPr sz="900" b="0" i="0">
                <a:solidFill>
                  <a:srgbClr val="CCD6E8"/>
                </a:solidFill>
                <a:latin typeface="Calibri"/>
              </a:rPr>
              <a:t>S3 Structural</a:t>
            </a:r>
          </a:p>
        </p:txBody>
      </p:sp>
      <p:sp>
        <p:nvSpPr>
          <p:cNvPr id="43" name="Rectangle 42"/>
          <p:cNvSpPr/>
          <p:nvPr/>
        </p:nvSpPr>
        <p:spPr>
          <a:xfrm>
            <a:off x="9875520" y="1645005"/>
            <a:ext cx="45720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921240" y="1663293"/>
            <a:ext cx="411480" cy="213055"/>
          </a:xfrm>
          <a:prstGeom prst="rect">
            <a:avLst/>
          </a:prstGeom>
          <a:noFill/>
        </p:spPr>
        <p:txBody>
          <a:bodyPr wrap="square"/>
          <a:lstStyle/>
          <a:p>
            <a:pPr algn="l"/>
            <a:r>
              <a:rPr sz="900" b="0" i="0">
                <a:solidFill>
                  <a:srgbClr val="CCD6E8"/>
                </a:solidFill>
                <a:latin typeface="Calibri"/>
              </a:rPr>
              <a:t>13</a:t>
            </a:r>
          </a:p>
        </p:txBody>
      </p:sp>
      <p:sp>
        <p:nvSpPr>
          <p:cNvPr id="45" name="Rectangle 44"/>
          <p:cNvSpPr/>
          <p:nvPr/>
        </p:nvSpPr>
        <p:spPr>
          <a:xfrm>
            <a:off x="10332720" y="1645005"/>
            <a:ext cx="73152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378440" y="1663293"/>
            <a:ext cx="685800" cy="213055"/>
          </a:xfrm>
          <a:prstGeom prst="rect">
            <a:avLst/>
          </a:prstGeom>
          <a:noFill/>
        </p:spPr>
        <p:txBody>
          <a:bodyPr wrap="square"/>
          <a:lstStyle/>
          <a:p>
            <a:pPr algn="l"/>
            <a:r>
              <a:rPr sz="900" b="0" i="0">
                <a:solidFill>
                  <a:srgbClr val="CCD6E8"/>
                </a:solidFill>
                <a:latin typeface="Calibri"/>
              </a:rPr>
              <a:t>5</a:t>
            </a:r>
          </a:p>
        </p:txBody>
      </p:sp>
      <p:sp>
        <p:nvSpPr>
          <p:cNvPr id="47" name="Rectangle 46"/>
          <p:cNvSpPr/>
          <p:nvPr/>
        </p:nvSpPr>
        <p:spPr>
          <a:xfrm>
            <a:off x="11064240" y="1645005"/>
            <a:ext cx="5486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109960" y="1663293"/>
            <a:ext cx="502920" cy="213055"/>
          </a:xfrm>
          <a:prstGeom prst="rect">
            <a:avLst/>
          </a:prstGeom>
          <a:noFill/>
        </p:spPr>
        <p:txBody>
          <a:bodyPr wrap="square"/>
          <a:lstStyle/>
          <a:p>
            <a:pPr algn="l"/>
            <a:r>
              <a:rPr sz="900" b="0" i="0">
                <a:solidFill>
                  <a:srgbClr val="CCD6E8"/>
                </a:solidFill>
                <a:latin typeface="Calibri"/>
              </a:rPr>
              <a:t>65</a:t>
            </a:r>
          </a:p>
        </p:txBody>
      </p:sp>
      <p:sp>
        <p:nvSpPr>
          <p:cNvPr id="49" name="Rectangle 48"/>
          <p:cNvSpPr/>
          <p:nvPr/>
        </p:nvSpPr>
        <p:spPr>
          <a:xfrm>
            <a:off x="8412480" y="1858060"/>
            <a:ext cx="14630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58200" y="1876348"/>
            <a:ext cx="1417320" cy="213055"/>
          </a:xfrm>
          <a:prstGeom prst="rect">
            <a:avLst/>
          </a:prstGeom>
          <a:noFill/>
        </p:spPr>
        <p:txBody>
          <a:bodyPr wrap="square"/>
          <a:lstStyle/>
          <a:p>
            <a:pPr algn="l"/>
            <a:r>
              <a:rPr sz="900" b="0" i="0">
                <a:solidFill>
                  <a:srgbClr val="CCD6E8"/>
                </a:solidFill>
                <a:latin typeface="Calibri"/>
              </a:rPr>
              <a:t>S4 Info-Theoretic</a:t>
            </a:r>
          </a:p>
        </p:txBody>
      </p:sp>
      <p:sp>
        <p:nvSpPr>
          <p:cNvPr id="51" name="Rectangle 50"/>
          <p:cNvSpPr/>
          <p:nvPr/>
        </p:nvSpPr>
        <p:spPr>
          <a:xfrm>
            <a:off x="9875520" y="1858060"/>
            <a:ext cx="45720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921240" y="1876348"/>
            <a:ext cx="411480" cy="213055"/>
          </a:xfrm>
          <a:prstGeom prst="rect">
            <a:avLst/>
          </a:prstGeom>
          <a:noFill/>
        </p:spPr>
        <p:txBody>
          <a:bodyPr wrap="square"/>
          <a:lstStyle/>
          <a:p>
            <a:pPr algn="l"/>
            <a:r>
              <a:rPr sz="900" b="0" i="0">
                <a:solidFill>
                  <a:srgbClr val="CCD6E8"/>
                </a:solidFill>
                <a:latin typeface="Calibri"/>
              </a:rPr>
              <a:t>4</a:t>
            </a:r>
          </a:p>
        </p:txBody>
      </p:sp>
      <p:sp>
        <p:nvSpPr>
          <p:cNvPr id="53" name="Rectangle 52"/>
          <p:cNvSpPr/>
          <p:nvPr/>
        </p:nvSpPr>
        <p:spPr>
          <a:xfrm>
            <a:off x="10332720" y="1858060"/>
            <a:ext cx="73152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378440" y="1876348"/>
            <a:ext cx="685800" cy="213055"/>
          </a:xfrm>
          <a:prstGeom prst="rect">
            <a:avLst/>
          </a:prstGeom>
          <a:noFill/>
        </p:spPr>
        <p:txBody>
          <a:bodyPr wrap="square"/>
          <a:lstStyle/>
          <a:p>
            <a:pPr algn="l"/>
            <a:r>
              <a:rPr sz="900" b="0" i="0">
                <a:solidFill>
                  <a:srgbClr val="CCD6E8"/>
                </a:solidFill>
                <a:latin typeface="Calibri"/>
              </a:rPr>
              <a:t>5</a:t>
            </a:r>
          </a:p>
        </p:txBody>
      </p:sp>
      <p:sp>
        <p:nvSpPr>
          <p:cNvPr id="55" name="Rectangle 54"/>
          <p:cNvSpPr/>
          <p:nvPr/>
        </p:nvSpPr>
        <p:spPr>
          <a:xfrm>
            <a:off x="11064240" y="1858060"/>
            <a:ext cx="5486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1109960" y="1876348"/>
            <a:ext cx="502920" cy="213055"/>
          </a:xfrm>
          <a:prstGeom prst="rect">
            <a:avLst/>
          </a:prstGeom>
          <a:noFill/>
        </p:spPr>
        <p:txBody>
          <a:bodyPr wrap="square"/>
          <a:lstStyle/>
          <a:p>
            <a:pPr algn="l"/>
            <a:r>
              <a:rPr sz="900" b="0" i="0">
                <a:solidFill>
                  <a:srgbClr val="CCD6E8"/>
                </a:solidFill>
                <a:latin typeface="Calibri"/>
              </a:rPr>
              <a:t>20</a:t>
            </a:r>
          </a:p>
        </p:txBody>
      </p:sp>
      <p:sp>
        <p:nvSpPr>
          <p:cNvPr id="57" name="Rectangle 56"/>
          <p:cNvSpPr/>
          <p:nvPr/>
        </p:nvSpPr>
        <p:spPr>
          <a:xfrm>
            <a:off x="8412480" y="2071115"/>
            <a:ext cx="14630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458200" y="2089403"/>
            <a:ext cx="1417320" cy="213055"/>
          </a:xfrm>
          <a:prstGeom prst="rect">
            <a:avLst/>
          </a:prstGeom>
          <a:noFill/>
        </p:spPr>
        <p:txBody>
          <a:bodyPr wrap="square"/>
          <a:lstStyle/>
          <a:p>
            <a:pPr algn="l"/>
            <a:r>
              <a:rPr sz="900" b="0" i="0">
                <a:solidFill>
                  <a:srgbClr val="CCD6E8"/>
                </a:solidFill>
                <a:latin typeface="Calibri"/>
              </a:rPr>
              <a:t>S5 Cross-Level</a:t>
            </a:r>
          </a:p>
        </p:txBody>
      </p:sp>
      <p:sp>
        <p:nvSpPr>
          <p:cNvPr id="59" name="Rectangle 58"/>
          <p:cNvSpPr/>
          <p:nvPr/>
        </p:nvSpPr>
        <p:spPr>
          <a:xfrm>
            <a:off x="9875520" y="2071115"/>
            <a:ext cx="45720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21240" y="2089403"/>
            <a:ext cx="411480" cy="213055"/>
          </a:xfrm>
          <a:prstGeom prst="rect">
            <a:avLst/>
          </a:prstGeom>
          <a:noFill/>
        </p:spPr>
        <p:txBody>
          <a:bodyPr wrap="square"/>
          <a:lstStyle/>
          <a:p>
            <a:pPr algn="l"/>
            <a:r>
              <a:rPr sz="900" b="0" i="0">
                <a:solidFill>
                  <a:srgbClr val="CCD6E8"/>
                </a:solidFill>
                <a:latin typeface="Calibri"/>
              </a:rPr>
              <a:t>9</a:t>
            </a:r>
          </a:p>
        </p:txBody>
      </p:sp>
      <p:sp>
        <p:nvSpPr>
          <p:cNvPr id="61" name="Rectangle 60"/>
          <p:cNvSpPr/>
          <p:nvPr/>
        </p:nvSpPr>
        <p:spPr>
          <a:xfrm>
            <a:off x="10332720" y="2071115"/>
            <a:ext cx="73152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378440" y="2089403"/>
            <a:ext cx="685800" cy="213055"/>
          </a:xfrm>
          <a:prstGeom prst="rect">
            <a:avLst/>
          </a:prstGeom>
          <a:noFill/>
        </p:spPr>
        <p:txBody>
          <a:bodyPr wrap="square"/>
          <a:lstStyle/>
          <a:p>
            <a:pPr algn="l"/>
            <a:r>
              <a:rPr sz="900" b="0" i="0">
                <a:solidFill>
                  <a:srgbClr val="CCD6E8"/>
                </a:solidFill>
                <a:latin typeface="Calibri"/>
              </a:rPr>
              <a:t>5</a:t>
            </a:r>
          </a:p>
        </p:txBody>
      </p:sp>
      <p:sp>
        <p:nvSpPr>
          <p:cNvPr id="63" name="Rectangle 62"/>
          <p:cNvSpPr/>
          <p:nvPr/>
        </p:nvSpPr>
        <p:spPr>
          <a:xfrm>
            <a:off x="11064240" y="2071115"/>
            <a:ext cx="5486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109960" y="2089403"/>
            <a:ext cx="502920" cy="213055"/>
          </a:xfrm>
          <a:prstGeom prst="rect">
            <a:avLst/>
          </a:prstGeom>
          <a:noFill/>
        </p:spPr>
        <p:txBody>
          <a:bodyPr wrap="square"/>
          <a:lstStyle/>
          <a:p>
            <a:pPr algn="l"/>
            <a:r>
              <a:rPr sz="900" b="0" i="0">
                <a:solidFill>
                  <a:srgbClr val="CCD6E8"/>
                </a:solidFill>
                <a:latin typeface="Calibri"/>
              </a:rPr>
              <a:t>45</a:t>
            </a:r>
          </a:p>
        </p:txBody>
      </p:sp>
      <p:sp>
        <p:nvSpPr>
          <p:cNvPr id="65" name="Rectangle 64"/>
          <p:cNvSpPr/>
          <p:nvPr/>
        </p:nvSpPr>
        <p:spPr>
          <a:xfrm>
            <a:off x="8412480" y="2284170"/>
            <a:ext cx="14630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458200" y="2302458"/>
            <a:ext cx="1417320" cy="213055"/>
          </a:xfrm>
          <a:prstGeom prst="rect">
            <a:avLst/>
          </a:prstGeom>
          <a:noFill/>
        </p:spPr>
        <p:txBody>
          <a:bodyPr wrap="square"/>
          <a:lstStyle/>
          <a:p>
            <a:pPr algn="l"/>
            <a:r>
              <a:rPr sz="900" b="0" i="0">
                <a:solidFill>
                  <a:srgbClr val="CCD6E8"/>
                </a:solidFill>
                <a:latin typeface="Calibri"/>
              </a:rPr>
              <a:t>S6 Typological</a:t>
            </a:r>
          </a:p>
        </p:txBody>
      </p:sp>
      <p:sp>
        <p:nvSpPr>
          <p:cNvPr id="67" name="Rectangle 66"/>
          <p:cNvSpPr/>
          <p:nvPr/>
        </p:nvSpPr>
        <p:spPr>
          <a:xfrm>
            <a:off x="9875520" y="2284170"/>
            <a:ext cx="45720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921240" y="2302458"/>
            <a:ext cx="411480" cy="213055"/>
          </a:xfrm>
          <a:prstGeom prst="rect">
            <a:avLst/>
          </a:prstGeom>
          <a:noFill/>
        </p:spPr>
        <p:txBody>
          <a:bodyPr wrap="square"/>
          <a:lstStyle/>
          <a:p>
            <a:pPr algn="l"/>
            <a:r>
              <a:rPr sz="900" b="0" i="0">
                <a:solidFill>
                  <a:srgbClr val="CCD6E8"/>
                </a:solidFill>
                <a:latin typeface="Calibri"/>
              </a:rPr>
              <a:t>—</a:t>
            </a:r>
          </a:p>
        </p:txBody>
      </p:sp>
      <p:sp>
        <p:nvSpPr>
          <p:cNvPr id="69" name="Rectangle 68"/>
          <p:cNvSpPr/>
          <p:nvPr/>
        </p:nvSpPr>
        <p:spPr>
          <a:xfrm>
            <a:off x="10332720" y="2284170"/>
            <a:ext cx="73152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0378440" y="2302458"/>
            <a:ext cx="685800" cy="213055"/>
          </a:xfrm>
          <a:prstGeom prst="rect">
            <a:avLst/>
          </a:prstGeom>
          <a:noFill/>
        </p:spPr>
        <p:txBody>
          <a:bodyPr wrap="square"/>
          <a:lstStyle/>
          <a:p>
            <a:pPr algn="l"/>
            <a:r>
              <a:rPr sz="900" b="0" i="0">
                <a:solidFill>
                  <a:srgbClr val="CCD6E8"/>
                </a:solidFill>
                <a:latin typeface="Calibri"/>
              </a:rPr>
              <a:t>17 flags</a:t>
            </a:r>
          </a:p>
        </p:txBody>
      </p:sp>
      <p:sp>
        <p:nvSpPr>
          <p:cNvPr id="71" name="Rectangle 70"/>
          <p:cNvSpPr/>
          <p:nvPr/>
        </p:nvSpPr>
        <p:spPr>
          <a:xfrm>
            <a:off x="11064240" y="2284170"/>
            <a:ext cx="5486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1109960" y="2302458"/>
            <a:ext cx="502920" cy="213055"/>
          </a:xfrm>
          <a:prstGeom prst="rect">
            <a:avLst/>
          </a:prstGeom>
          <a:noFill/>
        </p:spPr>
        <p:txBody>
          <a:bodyPr wrap="square"/>
          <a:lstStyle/>
          <a:p>
            <a:pPr algn="l"/>
            <a:r>
              <a:rPr sz="900" b="0" i="0">
                <a:solidFill>
                  <a:srgbClr val="CCD6E8"/>
                </a:solidFill>
                <a:latin typeface="Calibri"/>
              </a:rPr>
              <a:t>17</a:t>
            </a:r>
          </a:p>
        </p:txBody>
      </p:sp>
      <p:sp>
        <p:nvSpPr>
          <p:cNvPr id="73" name="Rectangle 72"/>
          <p:cNvSpPr/>
          <p:nvPr/>
        </p:nvSpPr>
        <p:spPr>
          <a:xfrm>
            <a:off x="8412480" y="2497225"/>
            <a:ext cx="14630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458200" y="2515513"/>
            <a:ext cx="1417320" cy="213055"/>
          </a:xfrm>
          <a:prstGeom prst="rect">
            <a:avLst/>
          </a:prstGeom>
          <a:noFill/>
        </p:spPr>
        <p:txBody>
          <a:bodyPr wrap="square"/>
          <a:lstStyle/>
          <a:p>
            <a:pPr algn="l"/>
            <a:r>
              <a:rPr sz="900" b="1" i="0">
                <a:solidFill>
                  <a:srgbClr val="F5A623"/>
                </a:solidFill>
                <a:latin typeface="Calibri"/>
              </a:rPr>
              <a:t>TOTAL</a:t>
            </a:r>
          </a:p>
        </p:txBody>
      </p:sp>
      <p:sp>
        <p:nvSpPr>
          <p:cNvPr id="75" name="Rectangle 74"/>
          <p:cNvSpPr/>
          <p:nvPr/>
        </p:nvSpPr>
        <p:spPr>
          <a:xfrm>
            <a:off x="9875520" y="2497225"/>
            <a:ext cx="45720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921240" y="2515513"/>
            <a:ext cx="411480" cy="213055"/>
          </a:xfrm>
          <a:prstGeom prst="rect">
            <a:avLst/>
          </a:prstGeom>
          <a:noFill/>
        </p:spPr>
        <p:txBody>
          <a:bodyPr wrap="square"/>
          <a:lstStyle/>
          <a:p>
            <a:pPr algn="l"/>
            <a:r>
              <a:rPr sz="900" b="1" i="0">
                <a:solidFill>
                  <a:srgbClr val="F5A623"/>
                </a:solidFill>
                <a:latin typeface="Calibri"/>
              </a:rPr>
              <a:t>52</a:t>
            </a:r>
          </a:p>
        </p:txBody>
      </p:sp>
      <p:sp>
        <p:nvSpPr>
          <p:cNvPr id="77" name="Rectangle 76"/>
          <p:cNvSpPr/>
          <p:nvPr/>
        </p:nvSpPr>
        <p:spPr>
          <a:xfrm>
            <a:off x="10332720" y="2497225"/>
            <a:ext cx="73152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378440" y="2515513"/>
            <a:ext cx="685800" cy="213055"/>
          </a:xfrm>
          <a:prstGeom prst="rect">
            <a:avLst/>
          </a:prstGeom>
          <a:noFill/>
        </p:spPr>
        <p:txBody>
          <a:bodyPr wrap="square"/>
          <a:lstStyle/>
          <a:p>
            <a:pPr algn="l"/>
            <a:endParaRPr/>
          </a:p>
        </p:txBody>
      </p:sp>
      <p:sp>
        <p:nvSpPr>
          <p:cNvPr id="79" name="Rectangle 78"/>
          <p:cNvSpPr/>
          <p:nvPr/>
        </p:nvSpPr>
        <p:spPr>
          <a:xfrm>
            <a:off x="11064240" y="2497225"/>
            <a:ext cx="5486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1109960" y="2515513"/>
            <a:ext cx="502920" cy="213055"/>
          </a:xfrm>
          <a:prstGeom prst="rect">
            <a:avLst/>
          </a:prstGeom>
          <a:noFill/>
        </p:spPr>
        <p:txBody>
          <a:bodyPr wrap="square"/>
          <a:lstStyle/>
          <a:p>
            <a:pPr algn="l"/>
            <a:r>
              <a:rPr sz="900" b="1" i="0">
                <a:solidFill>
                  <a:srgbClr val="F5A623"/>
                </a:solidFill>
                <a:latin typeface="Calibri"/>
              </a:rPr>
              <a:t>277</a:t>
            </a:r>
          </a:p>
        </p:txBody>
      </p:sp>
      <p:sp>
        <p:nvSpPr>
          <p:cNvPr id="81" name="Rectangle 80"/>
          <p:cNvSpPr/>
          <p:nvPr/>
        </p:nvSpPr>
        <p:spPr>
          <a:xfrm>
            <a:off x="502920" y="2011680"/>
            <a:ext cx="7772400" cy="21031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40080" y="2084831"/>
            <a:ext cx="7589520" cy="1965960"/>
          </a:xfrm>
          <a:prstGeom prst="rect">
            <a:avLst/>
          </a:prstGeom>
          <a:noFill/>
        </p:spPr>
        <p:txBody>
          <a:bodyPr wrap="square">
            <a:spAutoFit/>
          </a:bodyPr>
          <a:lstStyle/>
          <a:p>
            <a:pPr algn="l"/>
            <a:r>
              <a:rPr sz="1300" b="1" i="0">
                <a:solidFill>
                  <a:srgbClr val="F5A623"/>
                </a:solidFill>
                <a:latin typeface="Calibri"/>
              </a:rPr>
              <a:t>Five Statistics per Principal Component  (S1–S5)</a:t>
            </a:r>
          </a:p>
          <a:p>
            <a:pPr algn="l"/>
            <a:endParaRPr sz="1300" b="1" i="0">
              <a:solidFill>
                <a:srgbClr val="F5A623"/>
              </a:solidFill>
              <a:latin typeface="Calibri"/>
            </a:endParaRPr>
          </a:p>
          <a:p>
            <a:pPr algn="l"/>
            <a:r>
              <a:rPr sz="1100" b="0" i="0">
                <a:solidFill>
                  <a:srgbClr val="CCD6E8"/>
                </a:solidFill>
                <a:latin typeface="Calibri"/>
              </a:rPr>
              <a:t>For stratum s, PC r, let  zₛ,ᵣ ∈ ℝ|Λⱼ|  be the vector of PC-r scores across all languages:</a:t>
            </a:r>
          </a:p>
          <a:p>
            <a:pPr algn="l"/>
            <a:endParaRPr sz="1100" b="0" i="0">
              <a:solidFill>
                <a:srgbClr val="CCD6E8"/>
              </a:solidFill>
              <a:latin typeface="Calibri"/>
            </a:endParaRPr>
          </a:p>
          <a:p>
            <a:pPr algn="l"/>
            <a:r>
              <a:rPr sz="1100" b="0" i="1">
                <a:solidFill>
                  <a:srgbClr val="FFFFFF"/>
                </a:solidFill>
                <a:latin typeface="Calibri"/>
              </a:rPr>
              <a:t>  {s}_PC{r}_mean  =  z̄ₛ,ᵣ          mean of PC scores across languages     (central tendency)</a:t>
            </a:r>
          </a:p>
          <a:p>
            <a:pPr algn="l"/>
            <a:r>
              <a:rPr sz="1100" b="0" i="1">
                <a:solidFill>
                  <a:srgbClr val="FFFFFF"/>
                </a:solidFill>
                <a:latin typeface="Calibri"/>
              </a:rPr>
              <a:t>  {s}_PC{r}_std   =  σ(zₛ,ᵣ)       std across languages                   (spread)</a:t>
            </a:r>
          </a:p>
          <a:p>
            <a:pPr algn="l"/>
            <a:r>
              <a:rPr sz="1100" b="0" i="1">
                <a:solidFill>
                  <a:srgbClr val="FFFFFF"/>
                </a:solidFill>
                <a:latin typeface="Calibri"/>
              </a:rPr>
              <a:t>  {s}_PC{r}_min   =  min(zₛ,ᵣ)     minimum PC score across languages</a:t>
            </a:r>
          </a:p>
          <a:p>
            <a:pPr algn="l"/>
            <a:r>
              <a:rPr sz="1100" b="0" i="1">
                <a:solidFill>
                  <a:srgbClr val="FFFFFF"/>
                </a:solidFill>
                <a:latin typeface="Calibri"/>
              </a:rPr>
              <a:t>  {s}_PC{r}_max   =  max(zₛ,ᵣ)     maximum PC score across languages</a:t>
            </a:r>
          </a:p>
          <a:p>
            <a:pPr algn="l"/>
            <a:r>
              <a:rPr sz="1100" b="0" i="1">
                <a:solidFill>
                  <a:srgbClr val="FFFFFF"/>
                </a:solidFill>
                <a:latin typeface="Calibri"/>
              </a:rPr>
              <a:t>  {s}_PC{r}_het   =  s(zₛ,ᵣ, δ=1)  intra-dataset heterogeneity  (= 0 if monolingual)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Weighted k-NN &amp; Inverse-Distance Weighting: The Similarity Engine</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5669280" cy="53949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051560"/>
            <a:ext cx="347472" cy="68580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52728"/>
            <a:ext cx="347472" cy="274320"/>
          </a:xfrm>
          <a:prstGeom prst="rect">
            <a:avLst/>
          </a:prstGeom>
          <a:noFill/>
        </p:spPr>
        <p:txBody>
          <a:bodyPr wrap="square"/>
          <a:lstStyle/>
          <a:p>
            <a:pPr algn="ctr"/>
            <a:r>
              <a:rPr sz="1300" b="1" i="0">
                <a:solidFill>
                  <a:srgbClr val="FFFFFF"/>
                </a:solidFill>
                <a:latin typeface="Calibri"/>
              </a:rPr>
              <a:t>1</a:t>
            </a:r>
          </a:p>
        </p:txBody>
      </p:sp>
      <p:sp>
        <p:nvSpPr>
          <p:cNvPr id="8" name="TextBox 7"/>
          <p:cNvSpPr txBox="1"/>
          <p:nvPr/>
        </p:nvSpPr>
        <p:spPr>
          <a:xfrm>
            <a:off x="978408" y="1088136"/>
            <a:ext cx="5074920" cy="777240"/>
          </a:xfrm>
          <a:prstGeom prst="rect">
            <a:avLst/>
          </a:prstGeom>
          <a:noFill/>
        </p:spPr>
        <p:txBody>
          <a:bodyPr wrap="square">
            <a:spAutoFit/>
          </a:bodyPr>
          <a:lstStyle/>
          <a:p>
            <a:pPr algn="l"/>
            <a:r>
              <a:rPr sz="1100" b="1" i="0">
                <a:solidFill>
                  <a:srgbClr val="428BCA"/>
                </a:solidFill>
                <a:latin typeface="Calibri"/>
              </a:rPr>
              <a:t>Step 1  —  Per-Stratum Euclidean Distance</a:t>
            </a:r>
          </a:p>
          <a:p>
            <a:pPr algn="l"/>
            <a:r>
              <a:rPr sz="1000" b="0" i="1">
                <a:solidFill>
                  <a:srgbClr val="FFFFFF"/>
                </a:solidFill>
                <a:latin typeface="Calibri"/>
              </a:rPr>
              <a:t>dₛ(f̂, fⱼ) = ‖f̂⁽ˢ⁾ − fⱼ⁽ˢ⁾‖₂
for s ∈ {S1, S2, S3, S4, S5}</a:t>
            </a:r>
          </a:p>
        </p:txBody>
      </p:sp>
      <p:sp>
        <p:nvSpPr>
          <p:cNvPr id="9" name="Rectangle 8"/>
          <p:cNvSpPr/>
          <p:nvPr/>
        </p:nvSpPr>
        <p:spPr>
          <a:xfrm>
            <a:off x="548640" y="1901952"/>
            <a:ext cx="347472" cy="6858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103120"/>
            <a:ext cx="347472" cy="274320"/>
          </a:xfrm>
          <a:prstGeom prst="rect">
            <a:avLst/>
          </a:prstGeom>
          <a:noFill/>
        </p:spPr>
        <p:txBody>
          <a:bodyPr wrap="square"/>
          <a:lstStyle/>
          <a:p>
            <a:pPr algn="ctr"/>
            <a:r>
              <a:rPr sz="1300" b="1" i="0">
                <a:solidFill>
                  <a:srgbClr val="FFFFFF"/>
                </a:solidFill>
                <a:latin typeface="Calibri"/>
              </a:rPr>
              <a:t>2</a:t>
            </a:r>
          </a:p>
        </p:txBody>
      </p:sp>
      <p:sp>
        <p:nvSpPr>
          <p:cNvPr id="11" name="TextBox 10"/>
          <p:cNvSpPr txBox="1"/>
          <p:nvPr/>
        </p:nvSpPr>
        <p:spPr>
          <a:xfrm>
            <a:off x="978408" y="1938528"/>
            <a:ext cx="5074920" cy="777240"/>
          </a:xfrm>
          <a:prstGeom prst="rect">
            <a:avLst/>
          </a:prstGeom>
          <a:noFill/>
        </p:spPr>
        <p:txBody>
          <a:bodyPr wrap="square">
            <a:spAutoFit/>
          </a:bodyPr>
          <a:lstStyle/>
          <a:p>
            <a:pPr algn="l"/>
            <a:r>
              <a:rPr sz="1100" b="1" i="0">
                <a:solidFill>
                  <a:srgbClr val="1ABC9C"/>
                </a:solidFill>
                <a:latin typeface="Calibri"/>
              </a:rPr>
              <a:t>Step 2  —  S6 Normalised Hamming Distance</a:t>
            </a:r>
          </a:p>
          <a:p>
            <a:pPr algn="l"/>
            <a:r>
              <a:rPr sz="1000" b="0" i="1">
                <a:solidFill>
                  <a:srgbClr val="FFFFFF"/>
                </a:solidFill>
                <a:latin typeface="Calibri"/>
              </a:rPr>
              <a:t>d_S6 = (1/17) · Σᵣ 𝟙[f̂ᵣᶜᵃᵗ ≠ fⱼ,ᵣᶜᵃᵗ]
normalised Hamming over 17 boolean flags</a:t>
            </a:r>
          </a:p>
        </p:txBody>
      </p:sp>
      <p:sp>
        <p:nvSpPr>
          <p:cNvPr id="12" name="Rectangle 11"/>
          <p:cNvSpPr/>
          <p:nvPr/>
        </p:nvSpPr>
        <p:spPr>
          <a:xfrm>
            <a:off x="548640" y="2752344"/>
            <a:ext cx="347472" cy="6858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953512"/>
            <a:ext cx="347472" cy="274320"/>
          </a:xfrm>
          <a:prstGeom prst="rect">
            <a:avLst/>
          </a:prstGeom>
          <a:noFill/>
        </p:spPr>
        <p:txBody>
          <a:bodyPr wrap="square"/>
          <a:lstStyle/>
          <a:p>
            <a:pPr algn="ctr"/>
            <a:r>
              <a:rPr sz="1300" b="1" i="0">
                <a:solidFill>
                  <a:srgbClr val="FFFFFF"/>
                </a:solidFill>
                <a:latin typeface="Calibri"/>
              </a:rPr>
              <a:t>3</a:t>
            </a:r>
          </a:p>
        </p:txBody>
      </p:sp>
      <p:sp>
        <p:nvSpPr>
          <p:cNvPr id="14" name="TextBox 13"/>
          <p:cNvSpPr txBox="1"/>
          <p:nvPr/>
        </p:nvSpPr>
        <p:spPr>
          <a:xfrm>
            <a:off x="978408" y="2788920"/>
            <a:ext cx="5074920" cy="777240"/>
          </a:xfrm>
          <a:prstGeom prst="rect">
            <a:avLst/>
          </a:prstGeom>
          <a:noFill/>
        </p:spPr>
        <p:txBody>
          <a:bodyPr wrap="square">
            <a:spAutoFit/>
          </a:bodyPr>
          <a:lstStyle/>
          <a:p>
            <a:pPr algn="l"/>
            <a:r>
              <a:rPr sz="1100" b="1" i="0">
                <a:solidFill>
                  <a:srgbClr val="F5A623"/>
                </a:solidFill>
                <a:latin typeface="Calibri"/>
              </a:rPr>
              <a:t>Step 3  —  Weighted Composite Distance</a:t>
            </a:r>
          </a:p>
          <a:p>
            <a:pPr algn="l"/>
            <a:r>
              <a:rPr sz="1000" b="0" i="1">
                <a:solidFill>
                  <a:srgbClr val="FFFFFF"/>
                </a:solidFill>
                <a:latin typeface="Calibri"/>
              </a:rPr>
              <a:t>d(f̂, fⱼ) = Σₛ(wₛ · dₛ) / Σₛ(wₛ)
default: wₛ = 1.0 for all strata</a:t>
            </a:r>
          </a:p>
        </p:txBody>
      </p:sp>
      <p:sp>
        <p:nvSpPr>
          <p:cNvPr id="15" name="Rectangle 14"/>
          <p:cNvSpPr/>
          <p:nvPr/>
        </p:nvSpPr>
        <p:spPr>
          <a:xfrm>
            <a:off x="548640" y="3602736"/>
            <a:ext cx="347472" cy="68580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803904"/>
            <a:ext cx="347472" cy="274320"/>
          </a:xfrm>
          <a:prstGeom prst="rect">
            <a:avLst/>
          </a:prstGeom>
          <a:noFill/>
        </p:spPr>
        <p:txBody>
          <a:bodyPr wrap="square"/>
          <a:lstStyle/>
          <a:p>
            <a:pPr algn="ctr"/>
            <a:r>
              <a:rPr sz="1300" b="1" i="0">
                <a:solidFill>
                  <a:srgbClr val="FFFFFF"/>
                </a:solidFill>
                <a:latin typeface="Calibri"/>
              </a:rPr>
              <a:t>4</a:t>
            </a:r>
          </a:p>
        </p:txBody>
      </p:sp>
      <p:sp>
        <p:nvSpPr>
          <p:cNvPr id="17" name="TextBox 16"/>
          <p:cNvSpPr txBox="1"/>
          <p:nvPr/>
        </p:nvSpPr>
        <p:spPr>
          <a:xfrm>
            <a:off x="978408" y="3639312"/>
            <a:ext cx="5074920" cy="777240"/>
          </a:xfrm>
          <a:prstGeom prst="rect">
            <a:avLst/>
          </a:prstGeom>
          <a:noFill/>
        </p:spPr>
        <p:txBody>
          <a:bodyPr wrap="square">
            <a:spAutoFit/>
          </a:bodyPr>
          <a:lstStyle/>
          <a:p>
            <a:pPr algn="l"/>
            <a:r>
              <a:rPr sz="1100" b="1" i="0">
                <a:solidFill>
                  <a:srgbClr val="F0AD4E"/>
                </a:solidFill>
                <a:latin typeface="Calibri"/>
              </a:rPr>
              <a:t>Step 4  —  k-NN Retrieval  (k = 3)</a:t>
            </a:r>
          </a:p>
          <a:p>
            <a:pPr algn="l"/>
            <a:r>
              <a:rPr sz="1000" b="0" i="1">
                <a:solidFill>
                  <a:srgbClr val="FFFFFF"/>
                </a:solidFill>
                <a:latin typeface="Calibri"/>
              </a:rPr>
              <a:t>Sort candidates by d ascending
Return top-k NeighbourResult objects  (k=3 default)</a:t>
            </a:r>
          </a:p>
        </p:txBody>
      </p:sp>
      <p:sp>
        <p:nvSpPr>
          <p:cNvPr id="18" name="Rectangle 17"/>
          <p:cNvSpPr/>
          <p:nvPr/>
        </p:nvSpPr>
        <p:spPr>
          <a:xfrm>
            <a:off x="548640" y="4453128"/>
            <a:ext cx="347472" cy="6858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654296"/>
            <a:ext cx="347472" cy="274320"/>
          </a:xfrm>
          <a:prstGeom prst="rect">
            <a:avLst/>
          </a:prstGeom>
          <a:noFill/>
        </p:spPr>
        <p:txBody>
          <a:bodyPr wrap="square"/>
          <a:lstStyle/>
          <a:p>
            <a:pPr algn="ctr"/>
            <a:r>
              <a:rPr sz="1300" b="1" i="0">
                <a:solidFill>
                  <a:srgbClr val="FFFFFF"/>
                </a:solidFill>
                <a:latin typeface="Calibri"/>
              </a:rPr>
              <a:t>5</a:t>
            </a:r>
          </a:p>
        </p:txBody>
      </p:sp>
      <p:sp>
        <p:nvSpPr>
          <p:cNvPr id="20" name="TextBox 19"/>
          <p:cNvSpPr txBox="1"/>
          <p:nvPr/>
        </p:nvSpPr>
        <p:spPr>
          <a:xfrm>
            <a:off x="978408" y="4489704"/>
            <a:ext cx="5074920" cy="777240"/>
          </a:xfrm>
          <a:prstGeom prst="rect">
            <a:avLst/>
          </a:prstGeom>
          <a:noFill/>
        </p:spPr>
        <p:txBody>
          <a:bodyPr wrap="square">
            <a:spAutoFit/>
          </a:bodyPr>
          <a:lstStyle/>
          <a:p>
            <a:pPr algn="l"/>
            <a:r>
              <a:rPr sz="1100" b="1" i="0">
                <a:solidFill>
                  <a:srgbClr val="9B59B6"/>
                </a:solidFill>
                <a:latin typeface="Calibri"/>
              </a:rPr>
              <a:t>Step 5  —  IDW Vote per Model Variant</a:t>
            </a:r>
          </a:p>
          <a:p>
            <a:pPr algn="l"/>
            <a:r>
              <a:rPr sz="1000" b="0" i="1">
                <a:solidFill>
                  <a:srgbClr val="FFFFFF"/>
                </a:solidFill>
                <a:latin typeface="Calibri"/>
              </a:rPr>
              <a:t>score(m) = Σᵢ [Acc(m,𝒟ᵢ)·γᵢ / (dᵢ+ε)]
           ————————————————————————
           Σᵢ [1 / (dᵢ + ε)]</a:t>
            </a:r>
          </a:p>
        </p:txBody>
      </p:sp>
      <p:sp>
        <p:nvSpPr>
          <p:cNvPr id="21" name="Rectangle 20"/>
          <p:cNvSpPr/>
          <p:nvPr/>
        </p:nvSpPr>
        <p:spPr>
          <a:xfrm>
            <a:off x="548640" y="5303520"/>
            <a:ext cx="34747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504688"/>
            <a:ext cx="347472" cy="274320"/>
          </a:xfrm>
          <a:prstGeom prst="rect">
            <a:avLst/>
          </a:prstGeom>
          <a:noFill/>
        </p:spPr>
        <p:txBody>
          <a:bodyPr wrap="square"/>
          <a:lstStyle/>
          <a:p>
            <a:pPr algn="ctr"/>
            <a:r>
              <a:rPr sz="1300" b="1" i="0">
                <a:solidFill>
                  <a:srgbClr val="FFFFFF"/>
                </a:solidFill>
                <a:latin typeface="Calibri"/>
              </a:rPr>
              <a:t>6</a:t>
            </a:r>
          </a:p>
        </p:txBody>
      </p:sp>
      <p:sp>
        <p:nvSpPr>
          <p:cNvPr id="23" name="TextBox 22"/>
          <p:cNvSpPr txBox="1"/>
          <p:nvPr/>
        </p:nvSpPr>
        <p:spPr>
          <a:xfrm>
            <a:off x="978408" y="5340096"/>
            <a:ext cx="5074920" cy="777240"/>
          </a:xfrm>
          <a:prstGeom prst="rect">
            <a:avLst/>
          </a:prstGeom>
          <a:noFill/>
        </p:spPr>
        <p:txBody>
          <a:bodyPr wrap="square">
            <a:spAutoFit/>
          </a:bodyPr>
          <a:lstStyle/>
          <a:p>
            <a:pPr algn="l"/>
            <a:r>
              <a:rPr sz="1100" b="1" i="0">
                <a:solidFill>
                  <a:srgbClr val="4CAF50"/>
                </a:solidFill>
                <a:latin typeface="Calibri"/>
              </a:rPr>
              <a:t>Step 6  —  Confidence Score</a:t>
            </a:r>
          </a:p>
          <a:p>
            <a:pPr algn="l"/>
            <a:r>
              <a:rPr sz="1000" b="0" i="1">
                <a:solidFill>
                  <a:srgbClr val="FFFFFF"/>
                </a:solidFill>
                <a:latin typeface="Calibri"/>
              </a:rPr>
              <a:t>conf = |{i ∈ 𝒩ₖ : m̂ᵢ* = m*}| / k
Fraction of neighbours agreeing with recommendation</a:t>
            </a:r>
          </a:p>
        </p:txBody>
      </p:sp>
      <p:sp>
        <p:nvSpPr>
          <p:cNvPr id="24" name="Rectangle 23"/>
          <p:cNvSpPr/>
          <p:nvPr/>
        </p:nvSpPr>
        <p:spPr>
          <a:xfrm>
            <a:off x="6400800" y="1005840"/>
            <a:ext cx="5486400" cy="53949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Coverage Guard &amp; Conclusions: Principled Degradation + What We Built</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566928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78992"/>
            <a:ext cx="5394960" cy="3337560"/>
          </a:xfrm>
          <a:prstGeom prst="rect">
            <a:avLst/>
          </a:prstGeom>
          <a:noFill/>
        </p:spPr>
        <p:txBody>
          <a:bodyPr wrap="square">
            <a:spAutoFit/>
          </a:bodyPr>
          <a:lstStyle/>
          <a:p>
            <a:pPr algn="l"/>
            <a:r>
              <a:rPr sz="1300" b="1" i="0">
                <a:solidFill>
                  <a:srgbClr val="F5A623"/>
                </a:solidFill>
                <a:latin typeface="Calibri"/>
              </a:rPr>
              <a:t>Coverage Guard  (SimilarityEngine.query)</a:t>
            </a:r>
          </a:p>
          <a:p>
            <a:pPr algn="l"/>
            <a:endParaRPr sz="1300" b="1" i="0">
              <a:solidFill>
                <a:srgbClr val="F5A623"/>
              </a:solidFill>
              <a:latin typeface="Calibri"/>
            </a:endParaRPr>
          </a:p>
          <a:p>
            <a:pPr algn="l"/>
            <a:r>
              <a:rPr sz="1100" b="0" i="0">
                <a:solidFill>
                  <a:srgbClr val="CCD6E8"/>
                </a:solidFill>
                <a:latin typeface="Calibri"/>
              </a:rPr>
              <a:t>Purpose: soft-penalise models with language coverage gaps</a:t>
            </a:r>
          </a:p>
          <a:p>
            <a:pPr algn="l"/>
            <a:endParaRPr sz="1100" b="0" i="0">
              <a:solidFill>
                <a:srgbClr val="CCD6E8"/>
              </a:solidFill>
              <a:latin typeface="Calibri"/>
            </a:endParaRPr>
          </a:p>
          <a:p>
            <a:pPr algn="l"/>
            <a:r>
              <a:rPr sz="1200" b="0" i="1">
                <a:solidFill>
                  <a:srgbClr val="FFFFFF"/>
                </a:solidFill>
                <a:latin typeface="Calibri"/>
              </a:rPr>
              <a:t>Δᵢ(m)  =  Λ_user  ∖  Λ_m</a:t>
            </a:r>
          </a:p>
          <a:p>
            <a:pPr algn="l"/>
            <a:r>
              <a:rPr sz="1000" b="0" i="0">
                <a:solidFill>
                  <a:srgbClr val="CCD6E8"/>
                </a:solidFill>
                <a:latin typeface="Calibri"/>
              </a:rPr>
              <a:t>  (languages in user corpus that model m was not trained on)</a:t>
            </a:r>
          </a:p>
          <a:p>
            <a:pPr algn="l"/>
            <a:endParaRPr sz="1000" b="0" i="0">
              <a:solidFill>
                <a:srgbClr val="CCD6E8"/>
              </a:solidFill>
              <a:latin typeface="Calibri"/>
            </a:endParaRPr>
          </a:p>
          <a:p>
            <a:pPr algn="l"/>
            <a:r>
              <a:rPr sz="1200" b="0" i="1">
                <a:solidFill>
                  <a:srgbClr val="FFFFFF"/>
                </a:solidFill>
                <a:latin typeface="Calibri"/>
              </a:rPr>
              <a:t>γᵢ(m)  =  1  −  |Δᵢ(m)| / |Λ_user|</a:t>
            </a:r>
          </a:p>
          <a:p>
            <a:pPr algn="l"/>
            <a:endParaRPr sz="1200" b="0" i="1">
              <a:solidFill>
                <a:srgbClr val="FFFFFF"/>
              </a:solidFill>
              <a:latin typeface="Calibri"/>
            </a:endParaRPr>
          </a:p>
          <a:p>
            <a:pPr algn="l"/>
            <a:r>
              <a:rPr sz="1000" b="0" i="0">
                <a:solidFill>
                  <a:srgbClr val="4CAF50"/>
                </a:solidFill>
                <a:latin typeface="Calibri"/>
              </a:rPr>
              <a:t>  γ = 1.0   ⟹  Δ = ∅  (full coverage)   ⟹  no penalty</a:t>
            </a:r>
          </a:p>
          <a:p>
            <a:pPr algn="l"/>
            <a:r>
              <a:rPr sz="1000" b="0" i="0">
                <a:solidFill>
                  <a:srgbClr val="F5A623"/>
                </a:solidFill>
                <a:latin typeface="Calibri"/>
              </a:rPr>
              <a:t>  γ = 0.75  ⟹  25% gap              ⟹  vote weight × 0.75</a:t>
            </a:r>
          </a:p>
          <a:p>
            <a:pPr algn="l"/>
            <a:r>
              <a:rPr sz="1000" b="0" i="0">
                <a:solidFill>
                  <a:srgbClr val="E94F37"/>
                </a:solidFill>
                <a:latin typeface="Calibri"/>
              </a:rPr>
              <a:t>  γ = 0.0   ⟹  zero coverage        ⟹  effectively excluded</a:t>
            </a:r>
          </a:p>
          <a:p>
            <a:pPr algn="l"/>
            <a:endParaRPr sz="1000" b="0" i="0">
              <a:solidFill>
                <a:srgbClr val="E94F37"/>
              </a:solidFill>
              <a:latin typeface="Calibri"/>
            </a:endParaRPr>
          </a:p>
          <a:p>
            <a:pPr algn="l"/>
            <a:r>
              <a:rPr sz="1100" b="1" i="0">
                <a:solidFill>
                  <a:srgbClr val="FFFFFF"/>
                </a:solidFill>
                <a:latin typeface="Calibri"/>
              </a:rPr>
              <a:t>Truly uncoverable languages  (∉ any 𝒟ⱼ ∈ 𝒦):</a:t>
            </a:r>
          </a:p>
          <a:p>
            <a:pPr algn="l"/>
            <a:r>
              <a:rPr sz="1000" b="0" i="0">
                <a:solidFill>
                  <a:srgbClr val="CCD6E8"/>
                </a:solidFill>
                <a:latin typeface="Calibri"/>
              </a:rPr>
              <a:t>  ⟹  Flagged with ⚠ warning in RecommendationResult</a:t>
            </a:r>
          </a:p>
          <a:p>
            <a:pPr algn="l"/>
            <a:r>
              <a:rPr sz="1000" b="0" i="0">
                <a:solidFill>
                  <a:srgbClr val="CCD6E8"/>
                </a:solidFill>
                <a:latin typeface="Calibri"/>
              </a:rPr>
              <a:t>  ⟹  Transparent communication of epistemic limits</a:t>
            </a:r>
          </a:p>
          <a:p>
            <a:pPr algn="l"/>
            <a:endParaRPr sz="1000" b="0" i="0">
              <a:solidFill>
                <a:srgbClr val="CCD6E8"/>
              </a:solidFill>
              <a:latin typeface="Calibri"/>
            </a:endParaRPr>
          </a:p>
          <a:p>
            <a:pPr algn="l"/>
            <a:r>
              <a:rPr sz="1100" b="1" i="0">
                <a:solidFill>
                  <a:srgbClr val="FFFFFF"/>
                </a:solidFill>
                <a:latin typeface="Calibri"/>
              </a:rPr>
              <a:t>Preference ordering per neighbour:</a:t>
            </a:r>
          </a:p>
          <a:p>
            <a:pPr algn="l"/>
            <a:r>
              <a:rPr sz="1000" b="0" i="0">
                <a:solidFill>
                  <a:srgbClr val="CCD6E8"/>
                </a:solidFill>
                <a:latin typeface="Calibri"/>
              </a:rPr>
              <a:t>  1. Fully-covering variants  (Δ = ∅)</a:t>
            </a:r>
          </a:p>
          <a:p>
            <a:pPr algn="l"/>
            <a:r>
              <a:rPr sz="1000" b="0" i="0">
                <a:solidFill>
                  <a:srgbClr val="CCD6E8"/>
                </a:solidFill>
                <a:latin typeface="Calibri"/>
              </a:rPr>
              <a:t>  2. Smallest |Δ| variant  (if none fully covers)</a:t>
            </a:r>
          </a:p>
        </p:txBody>
      </p:sp>
      <p:sp>
        <p:nvSpPr>
          <p:cNvPr id="7" name="Rectangle 6"/>
          <p:cNvSpPr/>
          <p:nvPr/>
        </p:nvSpPr>
        <p:spPr>
          <a:xfrm>
            <a:off x="6355080" y="1005840"/>
            <a:ext cx="557784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078992"/>
            <a:ext cx="5303520" cy="3337560"/>
          </a:xfrm>
          <a:prstGeom prst="rect">
            <a:avLst/>
          </a:prstGeom>
          <a:noFill/>
        </p:spPr>
        <p:txBody>
          <a:bodyPr wrap="square">
            <a:spAutoFit/>
          </a:bodyPr>
          <a:lstStyle/>
          <a:p>
            <a:pPr algn="l"/>
            <a:r>
              <a:rPr sz="1300" b="1" i="0">
                <a:solidFill>
                  <a:srgbClr val="4CAF50"/>
                </a:solidFill>
                <a:latin typeface="Calibri"/>
              </a:rPr>
              <a:t>What Was Built  ✓</a:t>
            </a:r>
          </a:p>
          <a:p>
            <a:pPr algn="l"/>
            <a:endParaRPr sz="1300" b="1" i="0">
              <a:solidFill>
                <a:srgbClr val="4CAF50"/>
              </a:solidFill>
              <a:latin typeface="Calibri"/>
            </a:endParaRPr>
          </a:p>
          <a:p>
            <a:pPr algn="l"/>
            <a:r>
              <a:rPr sz="1100" b="0" i="0">
                <a:solidFill>
                  <a:srgbClr val="CCD6E8"/>
                </a:solidFill>
                <a:latin typeface="Calibri"/>
              </a:rPr>
              <a:t>  ✓  277-dim Linguistic DNA fingerprint</a:t>
            </a:r>
          </a:p>
          <a:p>
            <a:pPr algn="l"/>
            <a:r>
              <a:rPr sz="1100" b="0" i="0">
                <a:solidFill>
                  <a:srgbClr val="CCD6E8"/>
                </a:solidFill>
                <a:latin typeface="Calibri"/>
              </a:rPr>
              <a:t>  ✓  Stratum-wise PCA (5 semantic domains)</a:t>
            </a:r>
          </a:p>
          <a:p>
            <a:pPr algn="l"/>
            <a:r>
              <a:rPr sz="1100" b="0" i="0">
                <a:solidFill>
                  <a:srgbClr val="CCD6E8"/>
                </a:solidFill>
                <a:latin typeface="Calibri"/>
              </a:rPr>
              <a:t>  ✓  IDW vote with coverage guard</a:t>
            </a:r>
          </a:p>
          <a:p>
            <a:pPr algn="l"/>
            <a:r>
              <a:rPr sz="1100" b="0" i="0">
                <a:solidFill>
                  <a:srgbClr val="CCD6E8"/>
                </a:solidFill>
                <a:latin typeface="Calibri"/>
              </a:rPr>
              <a:t>  ✓  Sub-second CLI/API toolkit (HPC + laptop)</a:t>
            </a:r>
          </a:p>
          <a:p>
            <a:pPr algn="l"/>
            <a:r>
              <a:rPr sz="1100" b="0" i="0">
                <a:solidFill>
                  <a:srgbClr val="CCD6E8"/>
                </a:solidFill>
                <a:latin typeface="Calibri"/>
              </a:rPr>
              <a:t>  ✓  18 datasets  x  24 languages  x  8 metrics</a:t>
            </a:r>
          </a:p>
          <a:p>
            <a:pPr algn="l"/>
            <a:endParaRPr sz="1100" b="0" i="0">
              <a:solidFill>
                <a:srgbClr val="CCD6E8"/>
              </a:solidFill>
              <a:latin typeface="Calibri"/>
            </a:endParaRPr>
          </a:p>
          <a:p>
            <a:pPr algn="l"/>
            <a:r>
              <a:rPr sz="1300" b="1" i="0">
                <a:solidFill>
                  <a:srgbClr val="F5A623"/>
                </a:solidFill>
                <a:latin typeface="Calibri"/>
              </a:rPr>
              <a:t>Future Work</a:t>
            </a:r>
          </a:p>
          <a:p>
            <a:pPr algn="l"/>
            <a:endParaRPr sz="1300" b="1" i="0">
              <a:solidFill>
                <a:srgbClr val="F5A623"/>
              </a:solidFill>
              <a:latin typeface="Calibri"/>
            </a:endParaRPr>
          </a:p>
          <a:p>
            <a:pPr algn="l"/>
            <a:r>
              <a:rPr sz="1100" b="0" i="0">
                <a:solidFill>
                  <a:srgbClr val="CCD6E8"/>
                </a:solidFill>
                <a:latin typeface="Calibri"/>
              </a:rPr>
              <a:t>  1.  MKB expansion: more datasets, low-resource langs</a:t>
            </a:r>
          </a:p>
          <a:p>
            <a:pPr algn="l"/>
            <a:r>
              <a:rPr sz="1100" b="0" i="0">
                <a:solidFill>
                  <a:srgbClr val="CCD6E8"/>
                </a:solidFill>
                <a:latin typeface="Calibri"/>
              </a:rPr>
              <a:t>  2.  Stratum weight optimisation via Bayesian opt.</a:t>
            </a:r>
          </a:p>
          <a:p>
            <a:pPr algn="l"/>
            <a:r>
              <a:rPr sz="1000" b="0" i="0">
                <a:solidFill>
                  <a:srgbClr val="CCD6E8"/>
                </a:solidFill>
                <a:latin typeface="Calibri"/>
              </a:rPr>
              <a:t>     Learn optimal {w_s} from LOO feedback</a:t>
            </a:r>
          </a:p>
          <a:p>
            <a:pPr algn="l"/>
            <a:r>
              <a:rPr sz="1100" b="0" i="0">
                <a:solidFill>
                  <a:srgbClr val="CCD6E8"/>
                </a:solidFill>
                <a:latin typeface="Calibri"/>
              </a:rPr>
              <a:t>  3.  Portable serialisation: ONNX / joblib</a:t>
            </a:r>
          </a:p>
          <a:p>
            <a:pPr algn="l"/>
            <a:r>
              <a:rPr sz="1000" b="0" i="0">
                <a:solidFill>
                  <a:srgbClr val="CCD6E8"/>
                </a:solidFill>
                <a:latin typeface="Calibri"/>
              </a:rPr>
              <a:t>     Replace pickle for cross-environment deploy</a:t>
            </a:r>
          </a:p>
          <a:p>
            <a:pPr algn="l"/>
            <a:endParaRPr sz="1000" b="0" i="0">
              <a:solidFill>
                <a:srgbClr val="CCD6E8"/>
              </a:solidFill>
              <a:latin typeface="Calibri"/>
            </a:endParaRPr>
          </a:p>
          <a:p>
            <a:pPr algn="l"/>
            <a:r>
              <a:rPr sz="1300" b="1" i="0">
                <a:solidFill>
                  <a:srgbClr val="F5A623"/>
                </a:solidFill>
                <a:latin typeface="Calibri"/>
              </a:rPr>
              <a:t>Leave-One-Out Validation</a:t>
            </a:r>
          </a:p>
          <a:p>
            <a:pPr algn="l"/>
            <a:r>
              <a:rPr sz="1100" b="0" i="1">
                <a:solidFill>
                  <a:srgbClr val="FFFFFF"/>
                </a:solidFill>
                <a:latin typeface="Calibri"/>
              </a:rPr>
              <a:t>  Acc_LOO = (1/18) · Σⱼ 𝟙[m̂ⱼ = m*ⱼ]</a:t>
            </a:r>
          </a:p>
          <a:p>
            <a:pPr algn="l"/>
            <a:r>
              <a:rPr sz="1000" b="0" i="0">
                <a:solidFill>
                  <a:srgbClr val="CCD6E8"/>
                </a:solidFill>
                <a:latin typeface="Calibri"/>
              </a:rPr>
              <a:t>  N=18 folds  |  k=3  |  honest uncertainty estimates</a:t>
            </a:r>
          </a:p>
        </p:txBody>
      </p:sp>
      <p:sp>
        <p:nvSpPr>
          <p:cNvPr id="9" name="Rectangle 8"/>
          <p:cNvSpPr/>
          <p:nvPr/>
        </p:nvSpPr>
        <p:spPr>
          <a:xfrm>
            <a:off x="502920" y="4617720"/>
            <a:ext cx="11274552" cy="201168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4690872"/>
            <a:ext cx="10972800" cy="1874519"/>
          </a:xfrm>
          <a:prstGeom prst="rect">
            <a:avLst/>
          </a:prstGeom>
          <a:noFill/>
        </p:spPr>
        <p:txBody>
          <a:bodyPr wrap="square">
            <a:spAutoFit/>
          </a:bodyPr>
          <a:lstStyle/>
          <a:p>
            <a:pPr algn="l"/>
            <a:r>
              <a:rPr sz="1300" b="1" i="0" dirty="0">
                <a:solidFill>
                  <a:srgbClr val="F5A623"/>
                </a:solidFill>
                <a:latin typeface="Calibri"/>
              </a:rPr>
              <a:t>Complete Recommendation Formula (closed form)</a:t>
            </a:r>
          </a:p>
          <a:p>
            <a:pPr algn="l"/>
            <a:endParaRPr sz="1300" b="1" i="0" dirty="0">
              <a:solidFill>
                <a:srgbClr val="F5A623"/>
              </a:solidFill>
              <a:latin typeface="Calibri"/>
            </a:endParaRPr>
          </a:p>
          <a:p>
            <a:pPr algn="l"/>
            <a:r>
              <a:rPr sz="1300" b="0" i="1" dirty="0">
                <a:solidFill>
                  <a:srgbClr val="FFFFFF"/>
                </a:solidFill>
                <a:latin typeface="Calibri"/>
              </a:rPr>
              <a:t>m* = </a:t>
            </a:r>
            <a:r>
              <a:rPr sz="1300" b="0" i="1" dirty="0" err="1">
                <a:solidFill>
                  <a:srgbClr val="FFFFFF"/>
                </a:solidFill>
                <a:latin typeface="Calibri"/>
              </a:rPr>
              <a:t>arg</a:t>
            </a:r>
            <a:r>
              <a:rPr sz="1300" b="0" i="1" dirty="0">
                <a:solidFill>
                  <a:srgbClr val="FFFFFF"/>
                </a:solidFill>
                <a:latin typeface="Calibri"/>
              </a:rPr>
              <a:t> </a:t>
            </a:r>
            <a:r>
              <a:rPr sz="1300" b="0" i="1" dirty="0" err="1">
                <a:solidFill>
                  <a:srgbClr val="FFFFFF"/>
                </a:solidFill>
                <a:latin typeface="Calibri"/>
              </a:rPr>
              <a:t>max_m</a:t>
            </a:r>
            <a:r>
              <a:rPr sz="1300" b="0" i="1" dirty="0">
                <a:solidFill>
                  <a:srgbClr val="FFFFFF"/>
                </a:solidFill>
                <a:latin typeface="Calibri"/>
              </a:rPr>
              <a:t>   Σᵢ∈𝒩ₖ(f̂)   Acc(m, 𝒟ᵢ) · (1 − |</a:t>
            </a:r>
            <a:r>
              <a:rPr sz="1300" b="0" i="1" dirty="0" err="1">
                <a:solidFill>
                  <a:srgbClr val="FFFFFF"/>
                </a:solidFill>
                <a:latin typeface="Calibri"/>
              </a:rPr>
              <a:t>Λ_user</a:t>
            </a:r>
            <a:r>
              <a:rPr sz="1300" b="0" i="1" dirty="0">
                <a:solidFill>
                  <a:srgbClr val="FFFFFF"/>
                </a:solidFill>
                <a:latin typeface="Calibri"/>
              </a:rPr>
              <a:t> ∖ </a:t>
            </a:r>
            <a:r>
              <a:rPr sz="1300" b="0" i="1" dirty="0" err="1">
                <a:solidFill>
                  <a:srgbClr val="FFFFFF"/>
                </a:solidFill>
                <a:latin typeface="Calibri"/>
              </a:rPr>
              <a:t>Λ_m</a:t>
            </a:r>
            <a:r>
              <a:rPr sz="1300" b="0" i="1" dirty="0">
                <a:solidFill>
                  <a:srgbClr val="FFFFFF"/>
                </a:solidFill>
                <a:latin typeface="Calibri"/>
              </a:rPr>
              <a:t>| / |</a:t>
            </a:r>
            <a:r>
              <a:rPr sz="1300" b="0" i="1" dirty="0" err="1">
                <a:solidFill>
                  <a:srgbClr val="FFFFFF"/>
                </a:solidFill>
                <a:latin typeface="Calibri"/>
              </a:rPr>
              <a:t>Λ_user</a:t>
            </a:r>
            <a:r>
              <a:rPr sz="1300" b="0" i="1" dirty="0">
                <a:solidFill>
                  <a:srgbClr val="FFFFFF"/>
                </a:solidFill>
                <a:latin typeface="Calibri"/>
              </a:rPr>
              <a:t>|)</a:t>
            </a:r>
          </a:p>
          <a:p>
            <a:pPr algn="l"/>
            <a:r>
              <a:rPr sz="1100" b="0" i="0" dirty="0">
                <a:solidFill>
                  <a:srgbClr val="CCD6E8"/>
                </a:solidFill>
                <a:latin typeface="Calibri"/>
              </a:rPr>
              <a:t>                 ————————————————————————————————————————————————————————————</a:t>
            </a:r>
          </a:p>
          <a:p>
            <a:pPr algn="l"/>
            <a:r>
              <a:rPr sz="1300" b="0" i="1" dirty="0">
                <a:solidFill>
                  <a:srgbClr val="FFFFFF"/>
                </a:solidFill>
                <a:latin typeface="Calibri"/>
              </a:rPr>
              <a:t>                                    d(f̂, fᵢ)  +  ε</a:t>
            </a:r>
          </a:p>
          <a:p>
            <a:pPr algn="l"/>
            <a:endParaRPr sz="1300" b="0" i="1" dirty="0">
              <a:solidFill>
                <a:srgbClr val="FFFFFF"/>
              </a:solidFill>
              <a:latin typeface="Calibri"/>
            </a:endParaRPr>
          </a:p>
          <a:p>
            <a:pPr algn="l"/>
            <a:r>
              <a:rPr sz="1100" b="0" i="0" dirty="0">
                <a:solidFill>
                  <a:srgbClr val="CCD6E8"/>
                </a:solidFill>
                <a:latin typeface="Calibri"/>
              </a:rPr>
              <a:t>where   d = Σₛ(wₛ · ‖·‖₂⁽ˢ⁾) / Σₛ(wₛ)    𝐟ⱼ ∈ ℝ²⁷⁷    𝒩ₖ = top-k by d    k=3    ε = 10⁻⁹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3665</Words>
  <Application>Microsoft Office PowerPoint</Application>
  <PresentationFormat>Custom</PresentationFormat>
  <Paragraphs>395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Hugo, W, Mr [25167626@sun.ac.za]</cp:lastModifiedBy>
  <cp:revision>1</cp:revision>
  <dcterms:created xsi:type="dcterms:W3CDTF">2013-01-27T09:14:16Z</dcterms:created>
  <dcterms:modified xsi:type="dcterms:W3CDTF">2026-04-30T07:37:51Z</dcterms:modified>
  <cp:category/>
</cp:coreProperties>
</file>